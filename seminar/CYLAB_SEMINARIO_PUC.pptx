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6" r:id="rId12"/>
    <p:sldId id="267" r:id="rId13"/>
    <p:sldId id="257" r:id="rId3"/>
    <p:sldId id="263" r:id="rId9"/>
    <p:sldId id="273" r:id="rId24"/>
    <p:sldId id="265" r:id="rId11"/>
    <p:sldId id="269" r:id="rId15"/>
    <p:sldId id="268" r:id="rId14"/>
    <p:sldId id="261" r:id="rId7"/>
    <p:sldId id="272" r:id="rId23"/>
    <p:sldId id="274" r:id="rId25"/>
    <p:sldId id="262" r:id="rId8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DIZER EM VOZ ALTA antes de rodar: "Esta demonstração mostra o dataset e o gate, não o sistema. Nenhum LLM está rodando agora: a explicação e o patch que vocês vão ver estão gravados no dataset. O Opengrep apenas conta os achados da regra no before e no after."</a:t>
            </a:r>
          </a:p>
          <a:p>
            <a:r>
              <a:rPr lang="pt-BR" sz="1200" dirty="0"/>
              <a:t>Comandos: seminar/demo/demo_pair.sh cylab-bill-c-120-0613 (esperado 2 → 0) e seminar/demo/demo_pair.sh cylab-bill-python-89-0002 (esperado 1 → 0). Ler a explanation_pt em voz alta.</a:t>
            </a:r>
          </a:p>
          <a:p>
            <a:r>
              <a:rPr lang="pt-BR" sz="1200" dirty="0"/>
              <a:t>Se perguntarem do Python: a regra cylab.python.sqli-fstring-execute é de taint (valor do chamador até execute) e cobre f-string e .format(); este par usa .format().</a:t>
            </a:r>
          </a:p>
          <a:p>
            <a:r>
              <a:rPr lang="pt-BR" sz="1200" dirty="0"/>
              <a:t>Fonte: seminar/ROTEIRO_SEMINARIO_PUC.md (demo); rules-gold/cylab.python.sqli-fstring-execute.yaml.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Gh" Type="http://schemas.openxmlformats.org/officeDocument/2006/relationships/hyperlink" Target="https://github.com/ArthurAlcausa/cylab-dataset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Arq" Type="http://schemas.openxmlformats.org/officeDocument/2006/relationships/image" Target="../media/cylab-arquitetura-v04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Gh" Type="http://schemas.openxmlformats.org/officeDocument/2006/relationships/hyperlink" Target="https://github.com/ArthurAlcausa/cylab-dataset" TargetMode="Externa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8678" y="2829154"/>
            <a:ext cx="11394338" cy="12006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2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</a:t>
            </a:r>
            <a:r>
              <a:rPr lang="en-US" sz="7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local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3657600" y="4028846"/>
            <a:ext cx="2514600" cy="152705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  <p:sp>
        <p:nvSpPr>
          <p:cNvPr id="4" name="Shape 2"/>
          <p:cNvSpPr/>
          <p:nvPr/>
        </p:nvSpPr>
        <p:spPr>
          <a:xfrm>
            <a:off x="6510528" y="0"/>
            <a:ext cx="5681167" cy="1547165"/>
          </a:xfrm>
          <a:prstGeom prst="rect">
            <a:avLst/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310835"/>
            <a:ext cx="5681167" cy="1547165"/>
          </a:xfrm>
          <a:prstGeom prst="rect">
            <a:avLst/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10528" y="52578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Assistente open-source de segurança de código, 100% local. Primeira entrega: arquitetura híbrida e dataset ouro v0.4-gold, com 576 pares.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03350" y="2556662"/>
            <a:ext cx="5430622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spc="300" kern="0" dirty="0">
                <a:solidFill>
                  <a:srgbClr val="78787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Seminário de projeto · PUC Campinas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7337" y="1000354"/>
            <a:ext cx="8821217" cy="769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Por que </a:t>
            </a: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100% local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0" y="2276856"/>
            <a:ext cx="3438144" cy="3924605"/>
          </a:xfrm>
          <a:prstGeom prst="rect">
            <a:avLst/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8144" y="2276856"/>
            <a:ext cx="3924605" cy="3924605"/>
          </a:xfrm>
          <a:prstGeom prst="chord">
            <a:avLst>
              <a:gd name="adj1" fmla="val 5421336"/>
              <a:gd name="adj2" fmla="val 16200000"/>
            </a:avLst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305" y="3840480"/>
            <a:ext cx="496427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Privacidade: </a:t>
            </a:r>
            <a:r>
              <a:rPr lang="en-US" sz="14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código-fonte não sai da máquina.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Custo: </a:t>
            </a:r>
            <a:r>
              <a:rPr lang="en-US" sz="14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 custo por consulta.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Reprodutibilidade: </a:t>
            </a:r>
            <a:r>
              <a:rPr lang="en-US" sz="14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mesmo modelo, mesmo resultado auditável.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Acesso: </a:t>
            </a:r>
            <a:r>
              <a:rPr lang="en-US" sz="14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uso em sala de aula e sem internet.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6305" y="544068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Plano, ainda não implementado: modelo servido via Ollama (execução local de LLMs, código aberto), com CLI e extensão para o VS Code; ajuste fino LoRA/QLoRA sobre Qwen2.5-Coder-14B.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305" y="3267151"/>
            <a:ext cx="54864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Quatro razões para executar localmente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19749" y="3724351"/>
            <a:ext cx="2590495" cy="0"/>
          </a:xfrm>
          <a:prstGeom prst="line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26403" y="903427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7337" y="1000354"/>
            <a:ext cx="8821217" cy="769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Referências e </a:t>
            </a: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fontes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3179369" y="880567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  <p:sp>
        <p:nvSpPr>
          <p:cNvPr id="7" name="Shape 5"/>
          <p:cNvSpPr/>
          <p:nvPr/>
        </p:nvSpPr>
        <p:spPr>
          <a:xfrm>
            <a:off x="2962656" y="2103120"/>
            <a:ext cx="4080967" cy="2606040"/>
          </a:xfrm>
          <a:prstGeom prst="roundRect">
            <a:avLst>
              <a:gd name="adj" fmla="val 6362"/>
            </a:avLst>
          </a:prstGeom>
          <a:solidFill>
            <a:srgbClr val="1F2A27"/>
          </a:solidFill>
          <a:ln/>
        </p:spPr>
      </p:sp>
      <p:sp>
        <p:nvSpPr>
          <p:cNvPr id="8" name="Shape 6"/>
          <p:cNvSpPr/>
          <p:nvPr/>
        </p:nvSpPr>
        <p:spPr>
          <a:xfrm>
            <a:off x="7433158" y="3429000"/>
            <a:ext cx="4080967" cy="2766060"/>
          </a:xfrm>
          <a:prstGeom prst="roundRect">
            <a:avLst>
              <a:gd name="adj" fmla="val 6362"/>
            </a:avLst>
          </a:prstGeom>
          <a:solidFill>
            <a:srgbClr val="1F2A27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2276856"/>
            <a:ext cx="637337" cy="3924605"/>
          </a:xfrm>
          <a:prstGeom prst="rect">
            <a:avLst/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7337" y="2276856"/>
            <a:ext cx="3924605" cy="3924605"/>
          </a:xfrm>
          <a:prstGeom prst="chord">
            <a:avLst>
              <a:gd name="adj1" fmla="val 5421336"/>
              <a:gd name="adj2" fmla="val 16200000"/>
            </a:avLst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95828" y="4114800"/>
            <a:ext cx="3613709" cy="0"/>
          </a:xfrm>
          <a:prstGeom prst="line">
            <a:avLst/>
          </a:prstGeom>
          <a:noFill/>
          <a:ln w="6350">
            <a:solidFill>
              <a:srgbClr val="F5F3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9369" y="4187952"/>
            <a:ext cx="3611880" cy="369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Ferramentas e padrões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74559" y="5638190"/>
            <a:ext cx="3613709" cy="0"/>
          </a:xfrm>
          <a:prstGeom prst="line">
            <a:avLst/>
          </a:prstGeom>
          <a:noFill/>
          <a:ln w="6350">
            <a:solidFill>
              <a:srgbClr val="F5F3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59014" y="5707685"/>
            <a:ext cx="3611880" cy="369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Artefatos do repositório Cylab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79369" y="2212848"/>
            <a:ext cx="3613709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OPENGREP. </a:t>
            </a: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Opengrep, release v1.32.0. github.com/opengrep/opengrep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MITRE. </a:t>
            </a: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CWE – Common Weakness Enumeration. cwe.mitre.org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CREATIVE COMMONS. </a:t>
            </a: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CC BY 4.0. creativecommons.org/licenses/by/4.0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OLLAMA. </a:t>
            </a: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Ollama. ollama.com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74559" y="3538728"/>
            <a:ext cx="3613709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CYLAB. Repositório público:</a:t>
            </a:r>
            <a:b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</a:b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Gh">
                  <a:extLst>
                    <a:ext uri="{A12FA001-AC4F-418D-AE19-62706E023703}">
                      <ns0:hlinkClr xmlns:ns0="http://schemas.microsoft.com/office/drawing/2018/hyperlinkcolor" val="tx"/>
                    </a:ext>
                  </a:extLst>
                </a:hlinkClick>
              </a:rPr>
              <a:t>github.com/ArthurAlcausa/cylab-dataset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CYLAB. v0.4-gold, 576 registros, CC-BY-4.0: data/cylab-commercial-v0.4-gold.jsonl (SHA-256 ea328aef…)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CYLAB. v0.3-gold, 476 registros, intacto: data/cylab-commercial-v0.3-gold.jsonl (SHA-256 f37e1316…)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CYLAB. Regras e gate: rules-gold/; scripts/gate_gold.py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33157" y="1828800"/>
            <a:ext cx="42062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 b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Literatura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oppins" pitchFamily="34" charset="0"/>
                <a:ea typeface="Lexend" pitchFamily="34" charset="-122"/>
                <a:cs typeface="Lexend" pitchFamily="34" charset="-120"/>
              </a:rPr>
              <a:t>HU et al. LoRA. arXiv:2106.09685, 2021.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oppins" pitchFamily="34" charset="0"/>
                <a:ea typeface="Lexend" pitchFamily="34" charset="-122"/>
                <a:cs typeface="Lexend" pitchFamily="34" charset="-120"/>
              </a:rPr>
              <a:t>DETTMERS et al. QLoRA. arXiv:2305.14314, 2023.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oppins" pitchFamily="34" charset="0"/>
                <a:ea typeface="Lexend" pitchFamily="34" charset="-122"/>
                <a:cs typeface="Lexend" pitchFamily="34" charset="-120"/>
              </a:rPr>
              <a:t>HUI et al. Qwen2.5-Coder technical report. arXiv:2409.12186, 2024.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oppins" pitchFamily="34" charset="0"/>
                <a:ea typeface="Lexend" pitchFamily="34" charset="-122"/>
                <a:cs typeface="Lexend" pitchFamily="34" charset="-120"/>
              </a:rPr>
              <a:t>BRODER. On the resemblance and containment of documents. 1997.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962656" y="4892040"/>
            <a:ext cx="40782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Referências completas (ABNT) no relatório acadêmico: seminar/DOC_ACADEMICO_BANCA.md. URLs acessadas em 27 out. 2026.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88582" y="1617574"/>
            <a:ext cx="5030114" cy="21232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Demo: </a:t>
            </a: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um par C e um par Python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402982" y="-1255471"/>
            <a:ext cx="7082942" cy="2194560"/>
          </a:xfrm>
          <a:prstGeom prst="rect">
            <a:avLst/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06540" y="1515161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  <p:sp>
        <p:nvSpPr>
          <p:cNvPr id="8" name="Text 6"/>
          <p:cNvSpPr/>
          <p:nvPr/>
        </p:nvSpPr>
        <p:spPr>
          <a:xfrm>
            <a:off x="747979" y="3868826"/>
            <a:ext cx="2468880" cy="769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 → 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47979" y="4637837"/>
            <a:ext cx="2514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 · CWE-120 · holdout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cylab-bill-c-120-0613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strcpy em buffer de 32 bytes → snprintf limitado ao destino.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3868826"/>
            <a:ext cx="2468880" cy="769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 → 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29000" y="4637837"/>
            <a:ext cx="31272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2E6B57"/>
                </a:solidFill>
                <a:latin typeface="Poppins"/>
                <a:ea typeface="Poppins"/>
                <a:cs typeface="Poppins"/>
              </a:rPr>
              <a:t>Python · CWE-89 · holdout</a:t>
            </a:r>
          </a:p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cylab-bill-python-89-0002</a:t>
            </a:r>
          </a:p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SQL com .format() → parâmetro vinculado.</a:t>
            </a:r>
          </a:p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Regra taint: cobre f-string e .format().</a:t>
            </a:r>
          </a:p>
        </p:txBody>
      </p:sp>
      <p:sp>
        <p:nvSpPr>
          <p:cNvPr id="12" name="Shape 10"/>
          <p:cNvSpPr/>
          <p:nvPr/>
        </p:nvSpPr>
        <p:spPr>
          <a:xfrm>
            <a:off x="705002" y="1515161"/>
            <a:ext cx="3815791" cy="1597457"/>
          </a:xfrm>
          <a:prstGeom prst="roundRect">
            <a:avLst>
              <a:gd name="adj" fmla="val 6362"/>
            </a:avLst>
          </a:prstGeom>
          <a:solidFill>
            <a:srgbClr val="1F2A27"/>
          </a:solidFill>
          <a:ln/>
        </p:spPr>
      </p:sp>
      <p:sp>
        <p:nvSpPr>
          <p:cNvPr id="13" name="Shape 11"/>
          <p:cNvSpPr/>
          <p:nvPr/>
        </p:nvSpPr>
        <p:spPr>
          <a:xfrm>
            <a:off x="813816" y="2078431"/>
            <a:ext cx="3613709" cy="0"/>
          </a:xfrm>
          <a:prstGeom prst="line">
            <a:avLst/>
          </a:prstGeom>
          <a:noFill/>
          <a:ln w="6350">
            <a:solidFill>
              <a:srgbClr val="F5F3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8271" y="1706270"/>
            <a:ext cx="3294583" cy="3081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Opengrep 1.32.0 · demo_pair.sh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8271" y="2253082"/>
            <a:ext cx="3472891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Números grandes: achados da regra no before → after, medidos ao vivo pelo Opengrep.</a:t>
            </a:r>
            <a:endParaRPr lang="en-US" sz="1200" dirty="0"/>
          </a:p>
        </p:txBody>
      </p:sp>
      <p:sp>
        <p:nvSpPr>
          <p:cNvPr id="400" name="Demo scope bar"/>
          <p:cNvSpPr/>
          <p:nvPr/>
        </p:nvSpPr>
        <p:spPr>
          <a:xfrm>
            <a:off x="6606540" y="4069080"/>
            <a:ext cx="73152" cy="1417320"/>
          </a:xfrm>
          <a:prstGeom prst="rect">
            <a:avLst/>
          </a:prstGeom>
          <a:solidFill>
            <a:srgbClr val="2E6B57"/>
          </a:solidFill>
          <a:ln>
            <a:noFill/>
          </a:ln>
        </p:spPr>
      </p:sp>
      <p:sp>
        <p:nvSpPr>
          <p:cNvPr id="401" name="Demo scope"/>
          <p:cNvSpPr/>
          <p:nvPr/>
        </p:nvSpPr>
        <p:spPr>
          <a:xfrm>
            <a:off x="6812280" y="4023360"/>
            <a:ext cx="475488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pt-BR" sz="1600" b="1" i="0" dirty="0">
                <a:solidFill>
                  <a:srgbClr val="2E6B57"/>
                </a:solidFill>
                <a:latin typeface="Lexend"/>
                <a:ea typeface="Lexend"/>
                <a:cs typeface="Lexend"/>
              </a:rPr>
              <a:t>Esta demo mostra o dataset e o gate.</a:t>
            </a:r>
          </a:p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Nenhum LLM está rodando: explicação e patch vêm do dataset; o Opengrep só conta os achados no before e no after.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5178" y="3840480"/>
            <a:ext cx="4665269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Conclusão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868680" y="3703320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  <p:sp>
        <p:nvSpPr>
          <p:cNvPr id="7" name="Text 5"/>
          <p:cNvSpPr/>
          <p:nvPr/>
        </p:nvSpPr>
        <p:spPr>
          <a:xfrm>
            <a:off x="735178" y="4754880"/>
            <a:ext cx="44714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Primeira entrega: arquitetura definida e dataset ouro construído e verificado. Obrigado; ficamos à disposição para perguntas.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-655625"/>
            <a:ext cx="3198571" cy="3650285"/>
          </a:xfrm>
          <a:prstGeom prst="rect">
            <a:avLst/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8571" y="-655625"/>
            <a:ext cx="3650285" cy="3650285"/>
          </a:xfrm>
          <a:prstGeom prst="chord">
            <a:avLst>
              <a:gd name="adj1" fmla="val 5421336"/>
              <a:gd name="adj2" fmla="val 16200000"/>
            </a:avLst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0" y="27432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Três mensagens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35040" y="3246120"/>
            <a:ext cx="55778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</a:t>
            </a:r>
            <a:r>
              <a:rPr lang="en-US" sz="15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Detecção determinística com o Opengrep; o LLM apenas explica e corrige, e o patch é conferido.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</a:t>
            </a:r>
            <a:r>
              <a:rPr lang="en-US" sz="15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 ouro com critério de aceite automático: 576/576 no gate, v0.4-gold.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</a:t>
            </a:r>
            <a:r>
              <a:rPr lang="en-US" sz="15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local e open-source.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230161" y="-621792"/>
            <a:ext cx="3198571" cy="3650285"/>
          </a:xfrm>
          <a:prstGeom prst="rect">
            <a:avLst/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8732" y="-621792"/>
            <a:ext cx="3650285" cy="3650285"/>
          </a:xfrm>
          <a:prstGeom prst="chord">
            <a:avLst>
              <a:gd name="adj1" fmla="val 5421336"/>
              <a:gd name="adj2" fmla="val 16200000"/>
            </a:avLst>
          </a:prstGeom>
          <a:noFill/>
          <a:ln w="34925">
            <a:solidFill>
              <a:srgbClr val="D8D8D8">
                <a:alpha val="38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5178" y="952805"/>
            <a:ext cx="6008522" cy="769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Anatomia</a:t>
            </a: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do par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994599" y="2651760"/>
            <a:ext cx="3840480" cy="369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cylab-bill-python-89-0002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94599" y="2331720"/>
            <a:ext cx="406908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7878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Holdout v0.4-gold · regra cylab.python.sqli-fstring-execute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9791395" y="3246120"/>
            <a:ext cx="1613002" cy="274320"/>
          </a:xfrm>
          <a:prstGeom prst="rect">
            <a:avLst/>
          </a:prstGeom>
          <a:solidFill>
            <a:srgbClr val="1F2A27"/>
          </a:solidFill>
          <a:ln/>
        </p:spPr>
      </p:sp>
      <p:sp>
        <p:nvSpPr>
          <p:cNvPr id="51" name="Shape 49"/>
          <p:cNvSpPr/>
          <p:nvPr/>
        </p:nvSpPr>
        <p:spPr>
          <a:xfrm>
            <a:off x="7994599" y="3246120"/>
            <a:ext cx="1797710" cy="274320"/>
          </a:xfrm>
          <a:prstGeom prst="rect">
            <a:avLst/>
          </a:prstGeom>
          <a:solidFill>
            <a:srgbClr val="2E6B57"/>
          </a:solidFill>
          <a:ln/>
        </p:spPr>
      </p:sp>
      <p:sp>
        <p:nvSpPr>
          <p:cNvPr id="52" name="Text 50"/>
          <p:cNvSpPr/>
          <p:nvPr/>
        </p:nvSpPr>
        <p:spPr>
          <a:xfrm>
            <a:off x="8338414" y="3255264"/>
            <a:ext cx="1108253" cy="2542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CWE-89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10043770" y="3255264"/>
            <a:ext cx="1108253" cy="2542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7994599" y="3749039"/>
            <a:ext cx="3409798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explanation_pt: </a:t>
            </a: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“A query monta SQL com interpolação de string usando o valor de status vindo do chamador, o que permite injeção de SQL (CWE-89). A correção passa o valor como parâmetro vinculado, e o driver o trata sempre como dado.”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35178" y="33375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Um registro JSONL com 10 campos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35178" y="4069080"/>
            <a:ext cx="4206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 · lang · cwe · source · license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opengrep_rule · before · after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explanation_pt · split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</a:t>
            </a:r>
            <a:r>
              <a:rPr lang="en-US" sz="14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o trecho corrigido completo, não um diff. Licença CC-BY-4.0; pares escritos do zero para a Cylab.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842162" y="3882542"/>
            <a:ext cx="3075127" cy="0"/>
          </a:xfrm>
          <a:prstGeom prst="line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42162" y="1747418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  <p:sp>
        <p:nvSpPr>
          <p:cNvPr id="200" name="ID glossary"/>
          <p:cNvSpPr/>
          <p:nvPr/>
        </p:nvSpPr>
        <p:spPr>
          <a:xfrm>
            <a:off x="735178" y="2011680"/>
            <a:ext cx="6035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pt-BR" sz="1200" b="1" i="0" dirty="0">
                <a:solidFill>
                  <a:srgbClr val="2E6B57"/>
                </a:solidFill>
                <a:latin typeface="Poppins"/>
                <a:ea typeface="Poppins"/>
                <a:cs typeface="Poppins"/>
              </a:rPr>
              <a:t>Como ler o id: </a:t>
            </a: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cylab-&lt;prefixo&gt;-&lt;lang&gt;-&lt;cwe&gt;-&lt;nº&gt;. “bill” é o prefixo do lote/contribuidor que escreveu o par, não um produto.</a:t>
            </a:r>
          </a:p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2E6B57"/>
                </a:solidFill>
                <a:latin typeface="Poppins"/>
                <a:ea typeface="Poppins"/>
                <a:cs typeface="Poppins"/>
              </a:rPr>
              <a:t>Regra: </a:t>
            </a: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sqli-fstring-execute é uma regra de taint (valor do chamador até execute) e cobre f-string e .format(); este exemplo usa .format().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707270" y="5394960"/>
            <a:ext cx="1965046" cy="868680"/>
          </a:xfrm>
          <a:prstGeom prst="rect">
            <a:avLst/>
          </a:prstGeom>
          <a:solidFill>
            <a:srgbClr val="1F2A27"/>
          </a:solidFill>
          <a:ln/>
        </p:spPr>
      </p:sp>
      <p:sp>
        <p:nvSpPr>
          <p:cNvPr id="6" name="Shape 4"/>
          <p:cNvSpPr/>
          <p:nvPr/>
        </p:nvSpPr>
        <p:spPr>
          <a:xfrm>
            <a:off x="7539228" y="1986991"/>
            <a:ext cx="1965046" cy="4279392"/>
          </a:xfrm>
          <a:prstGeom prst="rect">
            <a:avLst/>
          </a:prstGeom>
          <a:solidFill>
            <a:srgbClr val="2E6B57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3657600"/>
            <a:ext cx="1874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before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9738360" y="54864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after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7589520" y="731520"/>
            <a:ext cx="1874519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≥ 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7589520" y="1417320"/>
            <a:ext cx="1874519" cy="3154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achado da regra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747504" y="4114800"/>
            <a:ext cx="1874519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= 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747504" y="4800600"/>
            <a:ext cx="1874519" cy="3154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achados da regra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2259" y="978408"/>
            <a:ext cx="7157923" cy="14465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O gate: critério de </a:t>
            </a: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aceite automático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02259" y="2743200"/>
            <a:ext cx="2743200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576/576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3520440" y="285292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pares do v0.4-gold aprovados no gate rules-gold; o v0.3-gold (476, SHA f37e1316…) segue intacto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2259" y="3749039"/>
            <a:ext cx="6400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Aceite(p) se e somente se achados_r(before) ≥ 1 e achados_r(after) = 0. Implementado em scripts/gate_gold.py, com as regras de rules-gold/, e complementado pelo validador de esquema.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gate garante que a falha detectada pela regra desaparece; não garante a correção funcional do patch.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5514" y="2412187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02259" y="944575"/>
            <a:ext cx="6164885" cy="14465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O problema: 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três lacunas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0" y="2854757"/>
            <a:ext cx="5071262" cy="192206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" name="Shape 5"/>
          <p:cNvSpPr/>
          <p:nvPr/>
        </p:nvSpPr>
        <p:spPr>
          <a:xfrm>
            <a:off x="5071262" y="2854757"/>
            <a:ext cx="3560674" cy="1922069"/>
          </a:xfrm>
          <a:prstGeom prst="rect">
            <a:avLst/>
          </a:prstGeom>
          <a:solidFill>
            <a:srgbClr val="1F2A27"/>
          </a:solidFill>
          <a:ln/>
        </p:spPr>
      </p:sp>
      <p:sp>
        <p:nvSpPr>
          <p:cNvPr id="8" name="Shape 6"/>
          <p:cNvSpPr/>
          <p:nvPr/>
        </p:nvSpPr>
        <p:spPr>
          <a:xfrm>
            <a:off x="8631936" y="2854757"/>
            <a:ext cx="3560674" cy="1922069"/>
          </a:xfrm>
          <a:prstGeom prst="rect">
            <a:avLst/>
          </a:prstGeom>
          <a:solidFill>
            <a:srgbClr val="2E6B57"/>
          </a:solidFill>
          <a:ln/>
        </p:spPr>
      </p:sp>
      <p:sp>
        <p:nvSpPr>
          <p:cNvPr id="11" name="Text 9"/>
          <p:cNvSpPr/>
          <p:nvPr/>
        </p:nvSpPr>
        <p:spPr>
          <a:xfrm>
            <a:off x="702259" y="3017520"/>
            <a:ext cx="4048963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SAST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02259" y="3749039"/>
            <a:ext cx="4048963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 o problema, mas a mensagem é curta, em inglês e não traz a correção.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37022" y="3017520"/>
            <a:ext cx="2874873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Nuvem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5437022" y="3749039"/>
            <a:ext cx="2874873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Assistentes LLM na nuvem exigem enviar código-fonte, às vezes proprietário, a terceiros.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97696" y="3017520"/>
            <a:ext cx="2874873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LLM só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8997696" y="3749039"/>
            <a:ext cx="2874873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Sozinho, o modelo alucina: inventa vulnerabilidades e deixa passar outras. Não é auditável.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31643" y="5029200"/>
            <a:ext cx="850940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ter explicação e correção em português, sem que o código saia da máquina e sem confiar no LLM para decidir o que é vulnerável?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02259" y="5172761"/>
            <a:ext cx="1592885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Pergunta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355641" y="2027225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02259" y="566928"/>
            <a:ext cx="10394899" cy="769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Arquitetura </a:t>
            </a: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híbrida</a:t>
            </a:r>
            <a:endParaRPr lang="en-US" sz="4400" dirty="0"/>
          </a:p>
        </p:txBody>
      </p:sp>
      <p:pic>
        <p:nvPicPr>
          <p:cNvPr id="200" name="Arquitetura Cylab v0.4" descr="Arquitetura do Cylab: pipeline híbrido 100% local. Opengrep detecta (regra, CWE, trecho); LLM local via Ollama (planejado) explica em pt-BR e propõe o patch; re-scan Opengrep confere (aceite se achados(before) ≥ 1 e achados(after) = 0). Faixa do dataset ouro v0.4-gold: 2.191 v0.2 comercial → 476 v0.3-gold → +100 buffer de realismo → 576 v0.4-gold, gate 576/576; 489 treino, 87 holdout."/>
          <p:cNvPicPr>
            <a:picLocks noChangeAspect="1"/>
          </p:cNvPicPr>
          <p:nvPr/>
        </p:nvPicPr>
        <p:blipFill>
          <a:blip r:embed="rIdArq"/>
          <a:stretch>
            <a:fillRect/>
          </a:stretch>
        </p:blipFill>
        <p:spPr>
          <a:xfrm>
            <a:off x="1692446" y="1371600"/>
            <a:ext cx="880680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02259" y="978408"/>
            <a:ext cx="499902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Ouro </a:t>
            </a: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v0.4-gold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842455" y="2286000"/>
            <a:ext cx="5349240" cy="2286000"/>
          </a:xfrm>
          <a:prstGeom prst="rect">
            <a:avLst/>
          </a:prstGeom>
          <a:solidFill>
            <a:srgbClr val="2E6B57"/>
          </a:solidFill>
          <a:ln/>
        </p:spPr>
      </p:sp>
      <p:sp>
        <p:nvSpPr>
          <p:cNvPr id="7" name="Text 5"/>
          <p:cNvSpPr/>
          <p:nvPr/>
        </p:nvSpPr>
        <p:spPr>
          <a:xfrm>
            <a:off x="7178040" y="320040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489 pares de treino e 87 de holdout. A deduplicação foi feita antes da partição.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78040" y="27432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Partição 489 / 87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42455" y="0"/>
            <a:ext cx="3633826" cy="2286000"/>
          </a:xfrm>
          <a:prstGeom prst="rect">
            <a:avLst/>
          </a:prstGeom>
          <a:solidFill>
            <a:srgbClr val="1F2A27"/>
          </a:solidFill>
          <a:ln/>
        </p:spPr>
      </p:sp>
      <p:sp>
        <p:nvSpPr>
          <p:cNvPr id="10" name="Text 8"/>
          <p:cNvSpPr/>
          <p:nvPr/>
        </p:nvSpPr>
        <p:spPr>
          <a:xfrm>
            <a:off x="7178040" y="10515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Todas as linguagens do escopo estão presentes; pares escritos do zero, licença CC-BY-4.0.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78040" y="5486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10 linguagens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42455" y="4572000"/>
            <a:ext cx="3633826" cy="2286000"/>
          </a:xfrm>
          <a:prstGeom prst="rect">
            <a:avLst/>
          </a:prstGeom>
          <a:solidFill>
            <a:srgbClr val="E4E4E4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534924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Escritos do zero, por frente:</a:t>
            </a:r>
          </a:p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Python/JS/TS 151 · Java/PHP/C#/SQL 92</a:t>
            </a:r>
          </a:p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C/C++/Bash 182 · complemento +51</a:t>
            </a:r>
          </a:p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realismo v0.4 +100</a:t>
            </a:r>
          </a:p>
        </p:txBody>
      </p:sp>
      <p:sp>
        <p:nvSpPr>
          <p:cNvPr id="14" name="Text 12"/>
          <p:cNvSpPr/>
          <p:nvPr/>
        </p:nvSpPr>
        <p:spPr>
          <a:xfrm>
            <a:off x="7178040" y="49377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Procedência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2259" y="233172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576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2788920" y="2697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pares · gate 576/576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2259" y="361188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linguagem: </a:t>
            </a:r>
            <a:r>
              <a:rPr lang="en-US" sz="13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C++ 86 · Python 74 · JavaScript 68 · C 67 · Bash 67 · SQL 65 · Java 40 · PHP 39 · TypeScript 37 · C# 33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1828800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  <p:sp>
        <p:nvSpPr>
          <p:cNvPr id="301" name="Commercial note"/>
          <p:cNvSpPr/>
          <p:nvPr/>
        </p:nvSpPr>
        <p:spPr>
          <a:xfrm>
            <a:off x="702259" y="4892040"/>
            <a:ext cx="566928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2E6B57"/>
                </a:solidFill>
                <a:latin typeface="Poppins"/>
                <a:ea typeface="Poppins"/>
                <a:cs typeface="Poppins"/>
              </a:rPr>
              <a:t>Arquivo: </a:t>
            </a: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data/cylab-commercial-v0.4-gold.jsonl (SHA-256 ea328aef…), público em </a:t>
            </a:r>
            <a:r>
              <a:rPr lang="pt-BR" sz="1200" b="0" i="0" dirty="0">
                <a:solidFill>
                  <a:srgbClr val="2E6B57"/>
                </a:solidFill>
                <a:latin typeface="Poppins"/>
                <a:ea typeface="Poppins"/>
                <a:cs typeface="Poppins"/>
                <a:hlinkClick r:id="rIdGh">
                  <a:extLst>
                    <a:ext uri="{A12FA001-AC4F-418D-AE19-62706E023703}">
                      <ns0:hlinkClr xmlns:ns0="http://schemas.microsoft.com/office/drawing/2018/hyperlinkcolor" val="tx"/>
                    </a:ext>
                  </a:extLst>
                </a:hlinkClick>
              </a:rPr>
              <a:t>github.com/ArthurAlcausa/cylab-dataset</a:t>
            </a: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. “commercial” vem da linha de escala (meta de ~2 mil pares na v0.2) e não restringe o uso: licença CC-BY-4.0, aberta.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" y="2918764"/>
            <a:ext cx="1554480" cy="274320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" name="Shape 4"/>
          <p:cNvSpPr/>
          <p:nvPr/>
        </p:nvSpPr>
        <p:spPr>
          <a:xfrm>
            <a:off x="2624328" y="5129784"/>
            <a:ext cx="1554480" cy="5321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" name="Shape 5"/>
          <p:cNvSpPr/>
          <p:nvPr/>
        </p:nvSpPr>
        <p:spPr>
          <a:xfrm>
            <a:off x="6227064" y="5065776"/>
            <a:ext cx="1554480" cy="596188"/>
          </a:xfrm>
          <a:prstGeom prst="rect">
            <a:avLst/>
          </a:prstGeom>
          <a:solidFill>
            <a:srgbClr val="2E6B57"/>
          </a:solidFill>
          <a:ln/>
        </p:spPr>
      </p:sp>
      <p:sp>
        <p:nvSpPr>
          <p:cNvPr id="402" name="Bar 576"/>
          <p:cNvSpPr/>
          <p:nvPr/>
        </p:nvSpPr>
        <p:spPr>
          <a:xfrm>
            <a:off x="9829800" y="4940503"/>
            <a:ext cx="1554480" cy="721461"/>
          </a:xfrm>
          <a:prstGeom prst="rect">
            <a:avLst/>
          </a:prstGeom>
          <a:solidFill>
            <a:srgbClr val="2E6B57"/>
          </a:solidFill>
          <a:ln/>
        </p:spPr>
      </p:sp>
      <p:sp>
        <p:nvSpPr>
          <p:cNvPr id="8" name="Shape 6"/>
          <p:cNvSpPr/>
          <p:nvPr/>
        </p:nvSpPr>
        <p:spPr>
          <a:xfrm>
            <a:off x="4425696" y="5597956"/>
            <a:ext cx="1554480" cy="64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1" name="Bar +100"/>
          <p:cNvSpPr/>
          <p:nvPr/>
        </p:nvSpPr>
        <p:spPr>
          <a:xfrm>
            <a:off x="8028431" y="5536692"/>
            <a:ext cx="1554480" cy="12527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41584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2.191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24328" y="462686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425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27064" y="456285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476</a:t>
            </a:r>
            <a:endParaRPr lang="en-US" sz="1600" dirty="0"/>
          </a:p>
        </p:txBody>
      </p:sp>
      <p:sp>
        <p:nvSpPr>
          <p:cNvPr id="404" name="Value 576"/>
          <p:cNvSpPr/>
          <p:nvPr/>
        </p:nvSpPr>
        <p:spPr>
          <a:xfrm>
            <a:off x="9829800" y="4437583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576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25696" y="509503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+51</a:t>
            </a:r>
            <a:endParaRPr lang="en-US" sz="1600" dirty="0"/>
          </a:p>
        </p:txBody>
      </p:sp>
      <p:sp>
        <p:nvSpPr>
          <p:cNvPr id="403" name="Value +100"/>
          <p:cNvSpPr/>
          <p:nvPr/>
        </p:nvSpPr>
        <p:spPr>
          <a:xfrm>
            <a:off x="8028431" y="5033772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+100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624328" y="2011680"/>
            <a:ext cx="8759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E6B57"/>
                </a:solidFill>
                <a:latin typeface="Lexend"/>
                <a:ea typeface="Lexend"/>
                <a:cs typeface="Lexend"/>
              </a:rPr>
              <a:t>Near-clones: </a:t>
            </a:r>
            <a:r>
              <a:rPr lang="pt-BR" sz="1400" b="0" i="0" dirty="0">
                <a:solidFill>
                  <a:srgbClr val="000000"/>
                </a:solidFill>
                <a:latin typeface="Lexend"/>
                <a:ea typeface="Lexend"/>
                <a:cs typeface="Lexend"/>
              </a:rPr>
              <a:t>variações do mesmo template. Na fatia C/C++/Bash, 602 pares viraram 182; os cortes de 0,80 a 0,99 deram os mesmos 182 (clones exatos).</a:t>
            </a:r>
          </a:p>
        </p:txBody>
      </p:sp>
      <p:sp>
        <p:nvSpPr>
          <p:cNvPr id="17" name="Shape 15"/>
          <p:cNvSpPr/>
          <p:nvPr/>
        </p:nvSpPr>
        <p:spPr>
          <a:xfrm>
            <a:off x="254203" y="5661965"/>
            <a:ext cx="11684203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74243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v0.2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24328" y="574243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núcleos deduplicados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27064" y="574243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v0.3-gold</a:t>
            </a:r>
            <a:endParaRPr lang="en-US" sz="1600" dirty="0"/>
          </a:p>
        </p:txBody>
      </p:sp>
      <p:sp>
        <p:nvSpPr>
          <p:cNvPr id="406" name="Label v0.4-gold"/>
          <p:cNvSpPr/>
          <p:nvPr/>
        </p:nvSpPr>
        <p:spPr>
          <a:xfrm>
            <a:off x="9829800" y="574243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v0.4-gold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425696" y="574243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complemento</a:t>
            </a:r>
            <a:endParaRPr lang="en-US" sz="1600" dirty="0"/>
          </a:p>
        </p:txBody>
      </p:sp>
      <p:sp>
        <p:nvSpPr>
          <p:cNvPr id="405" name="Label realismo v0.4"/>
          <p:cNvSpPr/>
          <p:nvPr/>
        </p:nvSpPr>
        <p:spPr>
          <a:xfrm>
            <a:off x="8028431" y="574243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realismo v0.4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2259" y="978408"/>
            <a:ext cx="9356141" cy="769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 2.191 pares </a:t>
            </a: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ao ouro</a:t>
            </a:r>
            <a:endParaRPr lang="en-US" sz="4400" dirty="0"/>
          </a:p>
        </p:txBody>
      </p:sp>
      <p:sp>
        <p:nvSpPr>
          <p:cNvPr id="26" name="Shape 24"/>
          <p:cNvSpPr/>
          <p:nvPr/>
        </p:nvSpPr>
        <p:spPr>
          <a:xfrm>
            <a:off x="6309360" y="1783080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  <p:sp>
        <p:nvSpPr>
          <p:cNvPr id="300" name="Dedup method"/>
          <p:cNvSpPr/>
          <p:nvPr/>
        </p:nvSpPr>
        <p:spPr>
          <a:xfrm>
            <a:off x="2624328" y="2743200"/>
            <a:ext cx="8759952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pt-BR" sz="1200" b="1" i="0" dirty="0">
                <a:solidFill>
                  <a:srgbClr val="2E6B57"/>
                </a:solidFill>
                <a:latin typeface="Poppins"/>
                <a:ea typeface="Poppins"/>
                <a:cs typeface="Poppins"/>
              </a:rPr>
              <a:t>Método: </a:t>
            </a: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similaridade de Jaccard sobre shingles de tokens (BRODER, 1997), por estrato linguagem + CWE.</a:t>
            </a:r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pt-BR" sz="1200" b="1" i="0" dirty="0">
                <a:solidFill>
                  <a:srgbClr val="2E6B57"/>
                </a:solidFill>
                <a:latin typeface="Poppins"/>
                <a:ea typeface="Poppins"/>
                <a:cs typeface="Poppins"/>
              </a:rPr>
              <a:t>Limiares por frente: </a:t>
            </a: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global e C/C++/Bash, Jaccard ≥ 0,85 · Python/JS/TS, SequenceMatcher ≥ 0,85 · Java/PHP/C#/SQL, Jaccard 0,82.</a:t>
            </a:r>
          </a:p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2E6B57"/>
                </a:solidFill>
                <a:latin typeface="Poppins"/>
                <a:ea typeface="Poppins"/>
                <a:cs typeface="Poppins"/>
              </a:rPr>
              <a:t>Complemento +51 (v0.3): </a:t>
            </a: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nenhum é quase-duplicata dos pares já mantidos (Jaccard de 5-gramas ≥ 0,9; 181 descartados).</a:t>
            </a:r>
          </a:p>
          <a:p>
            <a:pPr algn="l"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2E6B57"/>
                </a:solidFill>
                <a:latin typeface="Poppins"/>
                <a:ea typeface="Poppins"/>
                <a:cs typeface="Poppins"/>
              </a:rPr>
              <a:t>Realismo +100 (v0.4): </a:t>
            </a:r>
            <a:r>
              <a:rPr lang="pt-BR" sz="1200" b="0" i="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Jaccard de 4-gramas normalizados ≥ 0,85, por estrato; 0 descartados, nenhum agrupado com a v0.3; gate 100/100.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34924" y="1239926"/>
            <a:ext cx="4892954" cy="14465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Limitações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técnicas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746443" y="3713378"/>
            <a:ext cx="3815791" cy="1597457"/>
          </a:xfrm>
          <a:prstGeom prst="roundRect">
            <a:avLst>
              <a:gd name="adj" fmla="val 6362"/>
            </a:avLst>
          </a:prstGeom>
          <a:solidFill>
            <a:srgbClr val="1F2A27"/>
          </a:solidFill>
          <a:ln/>
        </p:spPr>
      </p:sp>
      <p:sp>
        <p:nvSpPr>
          <p:cNvPr id="7" name="Shape 5"/>
          <p:cNvSpPr/>
          <p:nvPr/>
        </p:nvSpPr>
        <p:spPr>
          <a:xfrm>
            <a:off x="6855257" y="4275734"/>
            <a:ext cx="3613709" cy="0"/>
          </a:xfrm>
          <a:prstGeom prst="line">
            <a:avLst/>
          </a:prstGeom>
          <a:noFill/>
          <a:ln w="6350">
            <a:solidFill>
              <a:srgbClr val="F5F3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39712" y="3903574"/>
            <a:ext cx="3611880" cy="3081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Gate não é correção funcional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39712" y="4451299"/>
            <a:ext cx="3472891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 achados no after mostram que a regra deixou de disparar, não que o patch preserve o comportamento.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4924" y="1188720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  <p:sp>
        <p:nvSpPr>
          <p:cNvPr id="22" name="Text 20"/>
          <p:cNvSpPr/>
          <p:nvPr/>
        </p:nvSpPr>
        <p:spPr>
          <a:xfrm>
            <a:off x="534924" y="3112618"/>
            <a:ext cx="420624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Análise de fluxo (taint) por linguagem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34924" y="3794760"/>
            <a:ext cx="49377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C/C++: </a:t>
            </a: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taint do Opengrep 1.32 não produziu achados nos testes; as regras -gold são estruturais.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Java/PHP/C#: </a:t>
            </a: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regras em taint ativo; criptografia, segredos, cabeçalhos, XXE e libxml seguem em regex.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 Bash: </a:t>
            </a: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regex restrita (o Opengrep não oferece taint para SQL; o suporte estrutural a Bash é limitado).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46443" y="123444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Pares sintéticos, em maioria curtos: </a:t>
            </a:r>
            <a:r>
              <a:rPr lang="en-US" sz="13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mediana de 6 linhas no before nos 576 pares. Os 100 pares de realismo da v0.4 têm de 26 a 52 linhas (mediana 35), mas são 17% do conjunto e de arquivo único.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E6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Metadados: </a:t>
            </a:r>
            <a:r>
              <a:rPr lang="en-US" sz="13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campo source normalizado no formato do schema (URL da CWE) nos 576 pares; validação do dataset OK.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3562" y="3670402"/>
            <a:ext cx="3822192" cy="0"/>
          </a:xfrm>
          <a:prstGeom prst="line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02259" y="978408"/>
            <a:ext cx="10394899" cy="769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Como montamos o </a:t>
            </a: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dataset ouro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02259" y="2180844"/>
            <a:ext cx="2962656" cy="2085746"/>
          </a:xfrm>
          <a:prstGeom prst="rect">
            <a:avLst/>
          </a:prstGeom>
          <a:solidFill>
            <a:srgbClr val="2E6B57"/>
          </a:solidFill>
          <a:ln/>
        </p:spPr>
      </p:sp>
      <p:sp>
        <p:nvSpPr>
          <p:cNvPr id="7" name="Shape 5"/>
          <p:cNvSpPr/>
          <p:nvPr/>
        </p:nvSpPr>
        <p:spPr>
          <a:xfrm>
            <a:off x="4422953" y="3224174"/>
            <a:ext cx="2962656" cy="2085746"/>
          </a:xfrm>
          <a:prstGeom prst="rect">
            <a:avLst/>
          </a:prstGeom>
          <a:solidFill>
            <a:srgbClr val="1F2A27"/>
          </a:solidFill>
          <a:ln/>
        </p:spPr>
      </p:sp>
      <p:sp>
        <p:nvSpPr>
          <p:cNvPr id="8" name="Shape 6"/>
          <p:cNvSpPr/>
          <p:nvPr/>
        </p:nvSpPr>
        <p:spPr>
          <a:xfrm>
            <a:off x="8143646" y="4267505"/>
            <a:ext cx="2962656" cy="20857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" name="Text 7"/>
          <p:cNvSpPr/>
          <p:nvPr/>
        </p:nvSpPr>
        <p:spPr>
          <a:xfrm>
            <a:off x="910742" y="253837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 · Escrita + schema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0742" y="2995574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Pares escritos do zero para a Cylab; o validador de esquema confere os 10 campos de cada registro.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31436" y="358170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 · Dedup por estrato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31436" y="4038904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Jaccard (Broder) em 4-gramas de tokens, limiar 0,85, só dentro de linguagem + CWE. Sem MinHash.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52130" y="4625035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 · Gate rules-gold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52130" y="5082235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dá ≥ 1 achado no before e = 0 no after. v0.4-gold: 576/576.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22952" y="2011680"/>
            <a:ext cx="356616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Critério de partição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22952" y="2359152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Train/holdout só depois do dedup: 489 treino, 87 holdout no v0.4-gold.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02259" y="4434840"/>
            <a:ext cx="282458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do dedup, o código é normalizado: sem comentários; literais, números e identificadores viram marcadores.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43646" y="3154680"/>
            <a:ext cx="282458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etapa deixa relatório e SHA-256 em data/, para auditoria.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069080" y="1810512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106" y="228600"/>
            <a:ext cx="2920594" cy="3090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Cylab · PUC Campinas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876995" y="6320333"/>
            <a:ext cx="2920594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02259" y="978408"/>
            <a:ext cx="10394899" cy="769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Próximos </a:t>
            </a:r>
            <a:r>
              <a:rPr lang="en-US" sz="4400" dirty="0">
                <a:solidFill>
                  <a:srgbClr val="2E6B5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passos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02259" y="2180844"/>
            <a:ext cx="2962656" cy="2085746"/>
          </a:xfrm>
          <a:prstGeom prst="rect">
            <a:avLst/>
          </a:prstGeom>
          <a:solidFill>
            <a:srgbClr val="2E6B57"/>
          </a:solidFill>
          <a:ln/>
        </p:spPr>
      </p:sp>
      <p:sp>
        <p:nvSpPr>
          <p:cNvPr id="7" name="Shape 5"/>
          <p:cNvSpPr/>
          <p:nvPr/>
        </p:nvSpPr>
        <p:spPr>
          <a:xfrm>
            <a:off x="4422953" y="3224174"/>
            <a:ext cx="2962656" cy="2085746"/>
          </a:xfrm>
          <a:prstGeom prst="rect">
            <a:avLst/>
          </a:prstGeom>
          <a:solidFill>
            <a:srgbClr val="1F2A27"/>
          </a:solidFill>
          <a:ln/>
        </p:spPr>
      </p:sp>
      <p:sp>
        <p:nvSpPr>
          <p:cNvPr id="8" name="Shape 6"/>
          <p:cNvSpPr/>
          <p:nvPr/>
        </p:nvSpPr>
        <p:spPr>
          <a:xfrm>
            <a:off x="8143646" y="4267505"/>
            <a:ext cx="2962656" cy="20857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" name="Text 7"/>
          <p:cNvSpPr/>
          <p:nvPr/>
        </p:nvSpPr>
        <p:spPr>
          <a:xfrm>
            <a:off x="910742" y="253837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 · Ajuste fino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0742" y="2995574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Qwen2.5-Coder-14B com LoRA/QLoRA; depois, um modelo maior da família Qwen.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31436" y="358170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3E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 · Avaliação no holdout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31436" y="4038904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5F3E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 pares do holdout v0.4-gold. Critério: o patch gerado passa no gate; revisão humana das explicações.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52130" y="4625035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 · Empacotamento local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52130" y="5082235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servido via Ollama, com CLI e extensão para o VS Code.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22952" y="2011680"/>
            <a:ext cx="356616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Pergunta da próxima entrega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22952" y="2359152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modelo local, treinado nesses pares, gera patches que passam no gate?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02259" y="4434840"/>
            <a:ext cx="282458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Também: mais pares longos, na linha do buffer de realismo, e casos com múltiplos arquivos; reavaliar o taint em C/C++ quando houver suporte.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43646" y="3154680"/>
            <a:ext cx="282458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Requisitos de hardware: medidos após o ajuste fino. Nenhuma estimativa nesta entrega.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069080" y="1810512"/>
            <a:ext cx="1273759" cy="102413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xe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Cylab local — Seminário de projeto PUC Campinas</dc:title>
  <dc:subject>PptxGenJS Presentation</dc:subject>
  <dc:creator>Arthur Alcausa</dc:creator>
  <cp:lastModifiedBy>Arthur Alcausa</cp:lastModifiedBy>
  <cp:revision>1</cp:revision>
  <dcterms:created xsi:type="dcterms:W3CDTF">2026-10-27T14:11:37Z</dcterms:created>
  <dcterms:modified xsi:type="dcterms:W3CDTF">2026-10-27T14:11:37Z</dcterms:modified>
</cp:coreProperties>
</file>