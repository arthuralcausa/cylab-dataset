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6" r:id="rId12"/>
    <p:sldId id="267" r:id="rId13"/>
    <p:sldId id="257" r:id="rId3"/>
    <p:sldId id="263" r:id="rId9"/>
    <p:sldId id="265" r:id="rId11"/>
    <p:sldId id="269" r:id="rId15"/>
    <p:sldId id="268" r:id="rId14"/>
    <p:sldId id="261" r:id="rId7"/>
    <p:sldId id="272" r:id="rId23"/>
    <p:sldId id="273" r:id="rId24"/>
    <p:sldId id="262" r:id="rId8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DIZER EM VOZ ALTA antes de rodar: "Esta demonstração mostra o dataset e o gate, não o sistema. Nenhum LLM está rodando agora: a explicação e o patch que vocês vão ver estão gravados no dataset. O Opengrep apenas conta os achados da regra no before e no after."</a:t>
            </a:r>
          </a:p>
          <a:p>
            <a:r>
              <a:rPr lang="pt-BR" sz="1200" dirty="0"/>
              <a:t>Comandos: seminar/demo/demo_pair.sh cylab-bill-c-120-0613 (esperado 2 → 0) e seminar/demo/demo_pair.sh cylab-bill-python-89-0002 (esperado 1 → 0). Ler a explanation_pt em voz alta.</a:t>
            </a:r>
          </a:p>
          <a:p>
            <a:r>
              <a:rPr lang="pt-BR" sz="1200" dirty="0"/>
              <a:t>Se perguntarem do Python: a regra cylab.python.sqli-fstring-execute é de taint (valor do chamador até execute) e cobre f-string e .format(); este par usa .format().</a:t>
            </a:r>
          </a:p>
          <a:p>
            <a:r>
              <a:rPr lang="pt-BR" sz="1200" dirty="0"/>
              <a:t>Fonte: seminar/ROTEIRO_SEMINARIO_PUC.md (demo); rules-gold/cylab.python.sqli-fstring-execute.yaml.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678" y="2829154"/>
            <a:ext cx="11394338" cy="12006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200" dirty="0">
                <a:solidFill>
                  <a:srgbClr val="2E6B5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Cylab</a:t>
            </a:r>
            <a:r>
              <a:rPr lang="en-US" sz="72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local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657600" y="4028846"/>
            <a:ext cx="2514600" cy="152705"/>
          </a:xfrm>
          <a:prstGeom prst="roundRect">
            <a:avLst>
              <a:gd name="adj" fmla="val 50000"/>
            </a:avLst>
          </a:prstGeom>
          <a:solidFill>
            <a:srgbClr val="2E6B57"/>
          </a:solidFill>
          <a:ln/>
        </p:spPr>
      </p:sp>
      <p:sp>
        <p:nvSpPr>
          <p:cNvPr id="4" name="Shape 2"/>
          <p:cNvSpPr/>
          <p:nvPr/>
        </p:nvSpPr>
        <p:spPr>
          <a:xfrm>
            <a:off x="6510528" y="0"/>
            <a:ext cx="5681167" cy="1547165"/>
          </a:xfrm>
          <a:prstGeom prst="rect">
            <a:avLst/>
          </a:prstGeom>
          <a:noFill/>
          <a:ln w="34925">
            <a:solidFill>
              <a:srgbClr val="D8D8D8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310835"/>
            <a:ext cx="5681167" cy="1547165"/>
          </a:xfrm>
          <a:prstGeom prst="rect">
            <a:avLst/>
          </a:prstGeom>
          <a:noFill/>
          <a:ln w="34925">
            <a:solidFill>
              <a:srgbClr val="D8D8D8">
                <a:alpha val="3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10528" y="52578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Assistente open-source de segurança de código, 100% local. Primeira entrega: arquitetura híbrida e dataset ouro v0.3-gold.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03350" y="2556662"/>
            <a:ext cx="5430622" cy="3456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78787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Seminário de projeto · PUC Campinas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106" y="228600"/>
            <a:ext cx="2920594" cy="3090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Cylab · PUC Campinas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76995" y="6320333"/>
            <a:ext cx="2920594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7337" y="1000354"/>
            <a:ext cx="8821217" cy="769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Por que </a:t>
            </a:r>
            <a:r>
              <a:rPr lang="en-US" sz="4400" dirty="0">
                <a:solidFill>
                  <a:srgbClr val="2E6B5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100% local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0" y="2276856"/>
            <a:ext cx="3438144" cy="3924605"/>
          </a:xfrm>
          <a:prstGeom prst="rect">
            <a:avLst/>
          </a:prstGeom>
          <a:noFill/>
          <a:ln w="34925">
            <a:solidFill>
              <a:srgbClr val="D8D8D8">
                <a:alpha val="3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38144" y="2276856"/>
            <a:ext cx="3924605" cy="3924605"/>
          </a:xfrm>
          <a:prstGeom prst="chord">
            <a:avLst>
              <a:gd name="adj1" fmla="val 5421336"/>
              <a:gd name="adj2" fmla="val 16200000"/>
            </a:avLst>
          </a:prstGeom>
          <a:noFill/>
          <a:ln w="34925">
            <a:solidFill>
              <a:srgbClr val="D8D8D8">
                <a:alpha val="3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305" y="3840480"/>
            <a:ext cx="496427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E6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Privacidade: </a:t>
            </a:r>
            <a:r>
              <a:rPr lang="en-US" sz="14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código-fonte não sai da máquina.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E6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Custo: </a:t>
            </a:r>
            <a:r>
              <a:rPr lang="en-US" sz="14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nenhum custo por consulta.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E6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Reprodutibilidade: </a:t>
            </a:r>
            <a:r>
              <a:rPr lang="en-US" sz="14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mesmo modelo, mesmo resultado auditável.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E6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Acesso: </a:t>
            </a:r>
            <a:r>
              <a:rPr lang="en-US" sz="14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uso em sala de aula e sem internet.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305" y="544068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Plano, ainda não implementado: modelo servido via Ollama (execução local de LLMs, código aberto), com CLI e extensão para o VS Code; ajuste fino LoRA/QLoRA sobre Qwen2.5-Coder-14B.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305" y="3267151"/>
            <a:ext cx="548640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Quatro razões para executar localmente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9749" y="3724351"/>
            <a:ext cx="259049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26403" y="903427"/>
            <a:ext cx="1273759" cy="102413"/>
          </a:xfrm>
          <a:prstGeom prst="roundRect">
            <a:avLst>
              <a:gd name="adj" fmla="val 50000"/>
            </a:avLst>
          </a:prstGeom>
          <a:solidFill>
            <a:srgbClr val="2E6B5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106" y="228600"/>
            <a:ext cx="2920594" cy="3090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Cylab · PUC Campinas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76995" y="6320333"/>
            <a:ext cx="2920594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7337" y="1000354"/>
            <a:ext cx="8821217" cy="769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Referências e </a:t>
            </a:r>
            <a:r>
              <a:rPr lang="en-US" sz="4400" dirty="0">
                <a:solidFill>
                  <a:srgbClr val="2E6B5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fontes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179369" y="880567"/>
            <a:ext cx="1273759" cy="102413"/>
          </a:xfrm>
          <a:prstGeom prst="roundRect">
            <a:avLst>
              <a:gd name="adj" fmla="val 50000"/>
            </a:avLst>
          </a:prstGeom>
          <a:solidFill>
            <a:srgbClr val="2E6B57"/>
          </a:solidFill>
          <a:ln/>
        </p:spPr>
      </p:sp>
      <p:sp>
        <p:nvSpPr>
          <p:cNvPr id="7" name="Shape 5"/>
          <p:cNvSpPr/>
          <p:nvPr/>
        </p:nvSpPr>
        <p:spPr>
          <a:xfrm>
            <a:off x="2962656" y="2103120"/>
            <a:ext cx="4080967" cy="2606040"/>
          </a:xfrm>
          <a:prstGeom prst="roundRect">
            <a:avLst>
              <a:gd name="adj" fmla="val 6362"/>
            </a:avLst>
          </a:prstGeom>
          <a:solidFill>
            <a:srgbClr val="1F2A27"/>
          </a:solidFill>
          <a:ln/>
        </p:spPr>
      </p:sp>
      <p:sp>
        <p:nvSpPr>
          <p:cNvPr id="8" name="Shape 6"/>
          <p:cNvSpPr/>
          <p:nvPr/>
        </p:nvSpPr>
        <p:spPr>
          <a:xfrm>
            <a:off x="7433158" y="3981298"/>
            <a:ext cx="4080967" cy="2213762"/>
          </a:xfrm>
          <a:prstGeom prst="roundRect">
            <a:avLst>
              <a:gd name="adj" fmla="val 6362"/>
            </a:avLst>
          </a:prstGeom>
          <a:solidFill>
            <a:srgbClr val="1F2A27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276856"/>
            <a:ext cx="637337" cy="3924605"/>
          </a:xfrm>
          <a:prstGeom prst="rect">
            <a:avLst/>
          </a:prstGeom>
          <a:noFill/>
          <a:ln w="34925">
            <a:solidFill>
              <a:srgbClr val="D8D8D8">
                <a:alpha val="3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7337" y="2276856"/>
            <a:ext cx="3924605" cy="3924605"/>
          </a:xfrm>
          <a:prstGeom prst="chord">
            <a:avLst>
              <a:gd name="adj1" fmla="val 5421336"/>
              <a:gd name="adj2" fmla="val 16200000"/>
            </a:avLst>
          </a:prstGeom>
          <a:noFill/>
          <a:ln w="34925">
            <a:solidFill>
              <a:srgbClr val="D8D8D8">
                <a:alpha val="3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95828" y="4114800"/>
            <a:ext cx="3613709" cy="0"/>
          </a:xfrm>
          <a:prstGeom prst="line">
            <a:avLst/>
          </a:prstGeom>
          <a:noFill/>
          <a:ln w="6350">
            <a:solidFill>
              <a:srgbClr val="F5F3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9369" y="4187952"/>
            <a:ext cx="3611880" cy="3694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5F3E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Ferramentas e padrões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74559" y="5638190"/>
            <a:ext cx="3613709" cy="0"/>
          </a:xfrm>
          <a:prstGeom prst="line">
            <a:avLst/>
          </a:prstGeom>
          <a:noFill/>
          <a:ln w="6350">
            <a:solidFill>
              <a:srgbClr val="F5F3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59014" y="5707685"/>
            <a:ext cx="3611880" cy="3694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5F3E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Artefatos do repositório Cylab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79369" y="2212848"/>
            <a:ext cx="3613709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5F3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OPENGREP. </a:t>
            </a:r>
            <a:r>
              <a:rPr lang="en-US" sz="1050" dirty="0">
                <a:solidFill>
                  <a:srgbClr val="F5F3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Opengrep, release v1.32.0. github.com/opengrep/opengrep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5F3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MITRE. </a:t>
            </a:r>
            <a:r>
              <a:rPr lang="en-US" sz="1050" dirty="0">
                <a:solidFill>
                  <a:srgbClr val="F5F3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CWE – Common Weakness Enumeration. cwe.mitre.org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5F3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CREATIVE COMMONS. </a:t>
            </a:r>
            <a:r>
              <a:rPr lang="en-US" sz="1050" dirty="0">
                <a:solidFill>
                  <a:srgbClr val="F5F3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CC BY 4.0. creativecommons.org/licenses/by/4.0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5F3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OLLAMA. </a:t>
            </a:r>
            <a:r>
              <a:rPr lang="en-US" sz="1050" dirty="0">
                <a:solidFill>
                  <a:srgbClr val="F5F3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Ollama. ollama.com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74559" y="4069080"/>
            <a:ext cx="3613709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5F3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CYLAB. Conjunto v0.3-gold, 476 registros, CC-BY-4.0: data/cylab-commercial-v0.3-gold.jsonl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5F3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CYLAB. Registro de progresso, chave gold_final: data/gold-progress.json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5F3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CYLAB. Regras endurecidas e gate: rules-gold/; scripts/gate_draft.py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33157" y="1828800"/>
            <a:ext cx="4206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dirty="0" b="0">
                <a:solidFill>
                  <a:srgbClr val="2E6B5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Literatura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Lexend" pitchFamily="34" charset="-122"/>
                <a:cs typeface="Lexend" pitchFamily="34" charset="-120"/>
              </a:rPr>
              <a:t>HU et al. LoRA. arXiv:2106.09685, 2021.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Lexend" pitchFamily="34" charset="-122"/>
                <a:cs typeface="Lexend" pitchFamily="34" charset="-120"/>
              </a:rPr>
              <a:t>DETTMERS et al. QLoRA. arXiv:2305.14314, 2023.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Lexend" pitchFamily="34" charset="-122"/>
                <a:cs typeface="Lexend" pitchFamily="34" charset="-120"/>
              </a:rPr>
              <a:t>HUI et al. Qwen2.5-Coder technical report. arXiv:2409.12186, 2024.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Lexend" pitchFamily="34" charset="-122"/>
                <a:cs typeface="Lexend" pitchFamily="34" charset="-120"/>
              </a:rPr>
              <a:t>BRODER. On the resemblance and containment of documents. 1997.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62656" y="4892040"/>
            <a:ext cx="40782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Referências completas (ABNT) no relatório acadêmico: seminar/DOC_ACADEMICO_BANCA.md. URLs acessadas em 27 out. 2026.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106" y="228600"/>
            <a:ext cx="2920594" cy="3090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Cylab · PUC Campinas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76995" y="6320333"/>
            <a:ext cx="2920594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88582" y="1617574"/>
            <a:ext cx="5030114" cy="21232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2E6B5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Demo: </a:t>
            </a:r>
            <a:r>
              <a:rPr lang="en-US" sz="4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um par C e um par Python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402982" y="-1255471"/>
            <a:ext cx="7082942" cy="2194560"/>
          </a:xfrm>
          <a:prstGeom prst="rect">
            <a:avLst/>
          </a:prstGeom>
          <a:noFill/>
          <a:ln w="34925">
            <a:solidFill>
              <a:srgbClr val="D8D8D8">
                <a:alpha val="3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06540" y="1515161"/>
            <a:ext cx="1273759" cy="102413"/>
          </a:xfrm>
          <a:prstGeom prst="roundRect">
            <a:avLst>
              <a:gd name="adj" fmla="val 50000"/>
            </a:avLst>
          </a:prstGeom>
          <a:solidFill>
            <a:srgbClr val="2E6B57"/>
          </a:solidFill>
          <a:ln/>
        </p:spPr>
      </p:sp>
      <p:sp>
        <p:nvSpPr>
          <p:cNvPr id="8" name="Text 6"/>
          <p:cNvSpPr/>
          <p:nvPr/>
        </p:nvSpPr>
        <p:spPr>
          <a:xfrm>
            <a:off x="747979" y="3868826"/>
            <a:ext cx="2468880" cy="769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2 → 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47979" y="4637837"/>
            <a:ext cx="2514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6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 · CWE-120 · holdout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cylab-bill-c-120-0613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strcpy em buffer de 32 bytes → snprintf limitado ao destino.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3868826"/>
            <a:ext cx="2468880" cy="769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 → 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29000" y="4637837"/>
            <a:ext cx="312724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200" b="0" i="0" dirty="0">
                <a:solidFill>
                  <a:srgbClr val="2E6B57"/>
                </a:solidFill>
                <a:latin typeface="Poppins"/>
                <a:ea typeface="Poppins"/>
                <a:cs typeface="Poppins"/>
              </a:rPr>
              <a:t>Python · CWE-89 · holdout</a:t>
            </a:r>
          </a:p>
          <a:p>
            <a:pPr algn="l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200" b="0" i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cylab-bill-python-89-0002</a:t>
            </a:r>
          </a:p>
          <a:p>
            <a:pPr algn="l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200" b="0" i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SQL com .format() → parâmetro vinculado.</a:t>
            </a:r>
          </a:p>
          <a:p>
            <a:pPr algn="l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200" b="0" i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Regra taint: cobre f-string e .format().</a:t>
            </a:r>
          </a:p>
        </p:txBody>
      </p:sp>
      <p:sp>
        <p:nvSpPr>
          <p:cNvPr id="12" name="Shape 10"/>
          <p:cNvSpPr/>
          <p:nvPr/>
        </p:nvSpPr>
        <p:spPr>
          <a:xfrm>
            <a:off x="705002" y="1515161"/>
            <a:ext cx="3815791" cy="1597457"/>
          </a:xfrm>
          <a:prstGeom prst="roundRect">
            <a:avLst>
              <a:gd name="adj" fmla="val 6362"/>
            </a:avLst>
          </a:prstGeom>
          <a:solidFill>
            <a:srgbClr val="1F2A27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" y="2078431"/>
            <a:ext cx="3613709" cy="0"/>
          </a:xfrm>
          <a:prstGeom prst="line">
            <a:avLst/>
          </a:prstGeom>
          <a:noFill/>
          <a:ln w="6350">
            <a:solidFill>
              <a:srgbClr val="F5F3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8271" y="1706270"/>
            <a:ext cx="3294583" cy="3081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5F3E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Opengrep 1.32.0 · demo_pair.sh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8271" y="2253082"/>
            <a:ext cx="3472891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3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Números grandes: achados da regra no before → after, medidos ao vivo pelo Opengrep.</a:t>
            </a:r>
            <a:endParaRPr lang="en-US" sz="1200" dirty="0"/>
          </a:p>
        </p:txBody>
      </p:sp>
      <p:sp>
        <p:nvSpPr>
          <p:cNvPr id="400" name="Demo scope bar"/>
          <p:cNvSpPr/>
          <p:nvPr/>
        </p:nvSpPr>
        <p:spPr>
          <a:xfrm>
            <a:off x="6606540" y="4069080"/>
            <a:ext cx="73152" cy="1417320"/>
          </a:xfrm>
          <a:prstGeom prst="rect">
            <a:avLst/>
          </a:prstGeom>
          <a:solidFill>
            <a:srgbClr val="2E6B57"/>
          </a:solidFill>
          <a:ln>
            <a:noFill/>
          </a:ln>
        </p:spPr>
      </p:sp>
      <p:sp>
        <p:nvSpPr>
          <p:cNvPr id="401" name="Demo scope"/>
          <p:cNvSpPr/>
          <p:nvPr/>
        </p:nvSpPr>
        <p:spPr>
          <a:xfrm>
            <a:off x="6812280" y="4023360"/>
            <a:ext cx="475488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rtlCol="0" anchor="t">
            <a:noAutofit/>
          </a:bodyPr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pt-BR" sz="1600" b="1" i="0" dirty="0">
                <a:solidFill>
                  <a:srgbClr val="2E6B57"/>
                </a:solidFill>
                <a:latin typeface="Lexend"/>
                <a:ea typeface="Lexend"/>
                <a:cs typeface="Lexend"/>
              </a:rPr>
              <a:t>Esta demo mostra o dataset e o gate.</a:t>
            </a:r>
          </a:p>
          <a:p>
            <a:pPr algn="l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Nenhum LLM está rodando: explicação e patch vêm do dataset; o Opengrep só conta os achados no before e no after.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106" y="228600"/>
            <a:ext cx="2920594" cy="3090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Cylab · PUC Campinas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76995" y="6320333"/>
            <a:ext cx="2920594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5178" y="3840480"/>
            <a:ext cx="466526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2E6B5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Conclusão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68680" y="3703320"/>
            <a:ext cx="1273759" cy="102413"/>
          </a:xfrm>
          <a:prstGeom prst="roundRect">
            <a:avLst>
              <a:gd name="adj" fmla="val 50000"/>
            </a:avLst>
          </a:prstGeom>
          <a:solidFill>
            <a:srgbClr val="2E6B57"/>
          </a:solidFill>
          <a:ln/>
        </p:spPr>
      </p:sp>
      <p:sp>
        <p:nvSpPr>
          <p:cNvPr id="7" name="Text 5"/>
          <p:cNvSpPr/>
          <p:nvPr/>
        </p:nvSpPr>
        <p:spPr>
          <a:xfrm>
            <a:off x="735178" y="4754880"/>
            <a:ext cx="44714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Primeira entrega: arquitetura definida e dataset ouro construído e verificado. Obrigado; ficamos à disposição para perguntas.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-655625"/>
            <a:ext cx="3198571" cy="3650285"/>
          </a:xfrm>
          <a:prstGeom prst="rect">
            <a:avLst/>
          </a:prstGeom>
          <a:noFill/>
          <a:ln w="34925">
            <a:solidFill>
              <a:srgbClr val="D8D8D8">
                <a:alpha val="3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98571" y="-655625"/>
            <a:ext cx="3650285" cy="3650285"/>
          </a:xfrm>
          <a:prstGeom prst="chord">
            <a:avLst>
              <a:gd name="adj1" fmla="val 5421336"/>
              <a:gd name="adj2" fmla="val 16200000"/>
            </a:avLst>
          </a:prstGeom>
          <a:noFill/>
          <a:ln w="34925">
            <a:solidFill>
              <a:srgbClr val="D8D8D8">
                <a:alpha val="3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7432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Três mensagens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3246120"/>
            <a:ext cx="5577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E6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</a:t>
            </a:r>
            <a:r>
              <a:rPr lang="en-US" sz="15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Detecção determinística com o Opengrep; o LLM apenas explica e corrige, e o patch é conferido.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E6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</a:t>
            </a:r>
            <a:r>
              <a:rPr lang="en-US" sz="15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ouro com critério de aceite automático: 476/476 no gate, v0.3-gold.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E6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</a:t>
            </a:r>
            <a:r>
              <a:rPr lang="en-US" sz="15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Tudo local e open-source.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106" y="228600"/>
            <a:ext cx="2920594" cy="3090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Cylab · PUC Campinas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76995" y="6320333"/>
            <a:ext cx="2920594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230161" y="-621792"/>
            <a:ext cx="3198571" cy="3650285"/>
          </a:xfrm>
          <a:prstGeom prst="rect">
            <a:avLst/>
          </a:prstGeom>
          <a:noFill/>
          <a:ln w="34925">
            <a:solidFill>
              <a:srgbClr val="D8D8D8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8732" y="-621792"/>
            <a:ext cx="3650285" cy="3650285"/>
          </a:xfrm>
          <a:prstGeom prst="chord">
            <a:avLst>
              <a:gd name="adj1" fmla="val 5421336"/>
              <a:gd name="adj2" fmla="val 16200000"/>
            </a:avLst>
          </a:prstGeom>
          <a:noFill/>
          <a:ln w="34925">
            <a:solidFill>
              <a:srgbClr val="D8D8D8">
                <a:alpha val="3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5178" y="952805"/>
            <a:ext cx="6008522" cy="769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2E6B5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Anatomia</a:t>
            </a:r>
            <a:r>
              <a:rPr lang="en-US" sz="4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do par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994599" y="2651760"/>
            <a:ext cx="3840480" cy="3694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cylab-bill-python-89-0002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94599" y="2331720"/>
            <a:ext cx="406908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878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Exemplo do holdout · regra cylab.python.sqli-fstring-execute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791395" y="3246120"/>
            <a:ext cx="1613002" cy="274320"/>
          </a:xfrm>
          <a:prstGeom prst="rect">
            <a:avLst/>
          </a:prstGeom>
          <a:solidFill>
            <a:srgbClr val="1F2A27"/>
          </a:solidFill>
          <a:ln/>
        </p:spPr>
      </p:sp>
      <p:sp>
        <p:nvSpPr>
          <p:cNvPr id="51" name="Shape 49"/>
          <p:cNvSpPr/>
          <p:nvPr/>
        </p:nvSpPr>
        <p:spPr>
          <a:xfrm>
            <a:off x="7994599" y="3246120"/>
            <a:ext cx="1797710" cy="274320"/>
          </a:xfrm>
          <a:prstGeom prst="rect">
            <a:avLst/>
          </a:prstGeom>
          <a:solidFill>
            <a:srgbClr val="2E6B57"/>
          </a:solidFill>
          <a:ln/>
        </p:spPr>
      </p:sp>
      <p:sp>
        <p:nvSpPr>
          <p:cNvPr id="52" name="Text 50"/>
          <p:cNvSpPr/>
          <p:nvPr/>
        </p:nvSpPr>
        <p:spPr>
          <a:xfrm>
            <a:off x="8338414" y="3255264"/>
            <a:ext cx="1108253" cy="254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5F3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CWE-89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0043770" y="3255264"/>
            <a:ext cx="1108253" cy="254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5F3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994599" y="3749039"/>
            <a:ext cx="340979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6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explanation_pt: </a:t>
            </a: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“A query monta SQL com interpolação de string usando o valor de status vindo do chamador, o que permite injeção de SQL (CWE-89). A correção passa o valor como parâmetro vinculado, e o driver o trata sempre como dado.”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35178" y="3337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Um registro JSONL com 10 campos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35178" y="4069080"/>
            <a:ext cx="4206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 · lang · cwe · source · license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opengrep_rule · before · after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explanation_pt · split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E6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</a:t>
            </a:r>
            <a:r>
              <a:rPr lang="en-US" sz="14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é o trecho corrigido completo, não um diff. Licença CC-BY-4.0; pares escritos do zero para a Cylab.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42162" y="3882542"/>
            <a:ext cx="3075127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42162" y="1747418"/>
            <a:ext cx="1273759" cy="102413"/>
          </a:xfrm>
          <a:prstGeom prst="roundRect">
            <a:avLst>
              <a:gd name="adj" fmla="val 50000"/>
            </a:avLst>
          </a:prstGeom>
          <a:solidFill>
            <a:srgbClr val="2E6B57"/>
          </a:solidFill>
          <a:ln/>
        </p:spPr>
      </p:sp>
      <p:sp>
        <p:nvSpPr>
          <p:cNvPr id="200" name="ID glossary"/>
          <p:cNvSpPr/>
          <p:nvPr/>
        </p:nvSpPr>
        <p:spPr>
          <a:xfrm>
            <a:off x="735178" y="2011680"/>
            <a:ext cx="603504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rtlCol="0" anchor="t">
            <a:noAutofit/>
          </a:bodyPr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pt-BR" sz="1200" b="1" i="0" dirty="0">
                <a:solidFill>
                  <a:srgbClr val="2E6B57"/>
                </a:solidFill>
                <a:latin typeface="Poppins"/>
                <a:ea typeface="Poppins"/>
                <a:cs typeface="Poppins"/>
              </a:rPr>
              <a:t>Como ler o id: </a:t>
            </a:r>
            <a:r>
              <a:rPr lang="pt-BR" sz="1200" b="0" i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cylab-&lt;prefixo&gt;-&lt;lang&gt;-&lt;cwe&gt;-&lt;nº&gt;. “bill” é o prefixo do lote/contribuidor que escreveu o par, não um produto.</a:t>
            </a:r>
          </a:p>
          <a:p>
            <a:pPr algn="l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200" b="1" i="0" dirty="0">
                <a:solidFill>
                  <a:srgbClr val="2E6B57"/>
                </a:solidFill>
                <a:latin typeface="Poppins"/>
                <a:ea typeface="Poppins"/>
                <a:cs typeface="Poppins"/>
              </a:rPr>
              <a:t>Regra: </a:t>
            </a:r>
            <a:r>
              <a:rPr lang="pt-BR" sz="1200" b="0" i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sqli-fstring-execute é uma regra de taint (valor do chamador até execute) e cobre f-string e .format(); este exemplo usa .format().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106" y="228600"/>
            <a:ext cx="2920594" cy="3090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Cylab · PUC Campinas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76995" y="6320333"/>
            <a:ext cx="2920594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707270" y="5394960"/>
            <a:ext cx="1965046" cy="868680"/>
          </a:xfrm>
          <a:prstGeom prst="rect">
            <a:avLst/>
          </a:prstGeom>
          <a:solidFill>
            <a:srgbClr val="1F2A27"/>
          </a:solidFill>
          <a:ln/>
        </p:spPr>
      </p:sp>
      <p:sp>
        <p:nvSpPr>
          <p:cNvPr id="6" name="Shape 4"/>
          <p:cNvSpPr/>
          <p:nvPr/>
        </p:nvSpPr>
        <p:spPr>
          <a:xfrm>
            <a:off x="7539228" y="1986991"/>
            <a:ext cx="1965046" cy="4279392"/>
          </a:xfrm>
          <a:prstGeom prst="rect">
            <a:avLst/>
          </a:prstGeom>
          <a:solidFill>
            <a:srgbClr val="2E6B57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3657600"/>
            <a:ext cx="187451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5F3E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before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738360" y="5486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F3E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after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589520" y="731520"/>
            <a:ext cx="1874519" cy="831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≥ 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7589520" y="1417320"/>
            <a:ext cx="1874519" cy="3154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achado da regra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47504" y="4114800"/>
            <a:ext cx="1874519" cy="831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= 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747504" y="4800600"/>
            <a:ext cx="1874519" cy="3154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achados da regra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2259" y="978408"/>
            <a:ext cx="7157923" cy="1446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 gate: critério de </a:t>
            </a:r>
            <a:r>
              <a:rPr lang="en-US" sz="4400" dirty="0">
                <a:solidFill>
                  <a:srgbClr val="2E6B5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aceite automático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02259" y="2743200"/>
            <a:ext cx="2743200" cy="831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476/476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3520440" y="285292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pares do v0.3-gold aprovados na nova verificação do gate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2259" y="3749039"/>
            <a:ext cx="6400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Aceite(p) se e somente se achados_r(before) ≥ 1 e achados_r(after) = 0. Implementado em scripts/gate_draft.py, que prefere as regras de rules-gold/, e complementado pelo validador de esquema.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gate garante que a falha detectada pela regra desaparece; não garante a correção funcional do patch.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5514" y="2412187"/>
            <a:ext cx="1273759" cy="102413"/>
          </a:xfrm>
          <a:prstGeom prst="roundRect">
            <a:avLst>
              <a:gd name="adj" fmla="val 50000"/>
            </a:avLst>
          </a:prstGeom>
          <a:solidFill>
            <a:srgbClr val="2E6B57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106" y="228600"/>
            <a:ext cx="2920594" cy="3090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Cylab · PUC Campinas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76995" y="6320333"/>
            <a:ext cx="2920594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02259" y="944575"/>
            <a:ext cx="6164885" cy="1446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 problema: </a:t>
            </a:r>
            <a:endParaRPr lang="en-US" sz="4400" dirty="0"/>
          </a:p>
          <a:p>
            <a:pPr algn="l" indent="0" marL="0">
              <a:buNone/>
            </a:pPr>
            <a:r>
              <a:rPr lang="en-US" sz="4400" dirty="0">
                <a:solidFill>
                  <a:srgbClr val="2E6B5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três lacunas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0" y="2854757"/>
            <a:ext cx="5071262" cy="1922069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" name="Shape 5"/>
          <p:cNvSpPr/>
          <p:nvPr/>
        </p:nvSpPr>
        <p:spPr>
          <a:xfrm>
            <a:off x="5071262" y="2854757"/>
            <a:ext cx="3560674" cy="1922069"/>
          </a:xfrm>
          <a:prstGeom prst="rect">
            <a:avLst/>
          </a:prstGeom>
          <a:solidFill>
            <a:srgbClr val="1F2A27"/>
          </a:solidFill>
          <a:ln/>
        </p:spPr>
      </p:sp>
      <p:sp>
        <p:nvSpPr>
          <p:cNvPr id="8" name="Shape 6"/>
          <p:cNvSpPr/>
          <p:nvPr/>
        </p:nvSpPr>
        <p:spPr>
          <a:xfrm>
            <a:off x="8631936" y="2854757"/>
            <a:ext cx="3560674" cy="1922069"/>
          </a:xfrm>
          <a:prstGeom prst="rect">
            <a:avLst/>
          </a:prstGeom>
          <a:solidFill>
            <a:srgbClr val="2E6B57"/>
          </a:solidFill>
          <a:ln/>
        </p:spPr>
      </p:sp>
      <p:sp>
        <p:nvSpPr>
          <p:cNvPr id="11" name="Text 9"/>
          <p:cNvSpPr/>
          <p:nvPr/>
        </p:nvSpPr>
        <p:spPr>
          <a:xfrm>
            <a:off x="702259" y="3017520"/>
            <a:ext cx="40489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SAST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702259" y="3749039"/>
            <a:ext cx="4048963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Aponta o problema, mas a mensagem é curta, em inglês e não traz a correção.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37022" y="3017520"/>
            <a:ext cx="287487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5F3E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Nuvem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5437022" y="3749039"/>
            <a:ext cx="2874873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3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Assistentes LLM na nuvem exigem enviar código-fonte, às vezes proprietário, a terceiros.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97696" y="3017520"/>
            <a:ext cx="287487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5F3E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LLM só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997696" y="3749039"/>
            <a:ext cx="2874873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3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Sozinho, o modelo alucina: inventa vulnerabilidades e deixa passar outras. Não é auditável.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31643" y="5029200"/>
            <a:ext cx="850940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Dá para ter explicação e correção em português, sem que o código saia da máquina e sem confiar no LLM para decidir o que é vulnerável?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2259" y="5172761"/>
            <a:ext cx="1592885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Pergunta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55641" y="2027225"/>
            <a:ext cx="1273759" cy="102413"/>
          </a:xfrm>
          <a:prstGeom prst="roundRect">
            <a:avLst>
              <a:gd name="adj" fmla="val 50000"/>
            </a:avLst>
          </a:prstGeom>
          <a:solidFill>
            <a:srgbClr val="2E6B57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106" y="228600"/>
            <a:ext cx="2920594" cy="3090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Cylab · PUC Campinas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76995" y="6320333"/>
            <a:ext cx="2920594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02259" y="978408"/>
            <a:ext cx="10394899" cy="769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Arquitetura </a:t>
            </a:r>
            <a:r>
              <a:rPr lang="en-US" sz="4400" dirty="0">
                <a:solidFill>
                  <a:srgbClr val="2E6B5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híbrida</a:t>
            </a:r>
            <a:endParaRPr lang="en-US" sz="4400" dirty="0"/>
          </a:p>
        </p:txBody>
      </p:sp>
      <p:sp>
        <p:nvSpPr>
          <p:cNvPr id="60" name="Shape 58"/>
          <p:cNvSpPr/>
          <p:nvPr/>
        </p:nvSpPr>
        <p:spPr>
          <a:xfrm>
            <a:off x="4069080" y="1810512"/>
            <a:ext cx="1273759" cy="102413"/>
          </a:xfrm>
          <a:prstGeom prst="roundRect">
            <a:avLst>
              <a:gd name="adj" fmla="val 50000"/>
            </a:avLst>
          </a:prstGeom>
          <a:solidFill>
            <a:srgbClr val="2E6B57"/>
          </a:solidFill>
          <a:ln/>
        </p:spPr>
      </p:sp>
      <p:sp>
        <p:nvSpPr>
          <p:cNvPr id="100" name="Diagram box 1"/>
          <p:cNvSpPr/>
          <p:nvPr/>
        </p:nvSpPr>
        <p:spPr>
          <a:xfrm>
            <a:off x="548640" y="2286000"/>
            <a:ext cx="1563624" cy="1188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square" lIns="91440" rIns="91440" tIns="91440" bIns="91440" rtlCol="0" anchor="ctr">
            <a:noAutofit/>
          </a:bodyPr>
          <a:lstStyle/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pt-BR" sz="1400" b="1" i="0" dirty="0">
                <a:solidFill>
                  <a:srgbClr val="000000"/>
                </a:solidFill>
                <a:latin typeface="Lexend"/>
                <a:ea typeface="Lexend"/>
                <a:cs typeface="Lexend"/>
              </a:rPr>
              <a:t>Código</a:t>
            </a:r>
          </a:p>
          <a:p>
            <a:pPr algn="ctr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050" b="0" i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trecho do desenvolvedor</a:t>
            </a:r>
          </a:p>
        </p:txBody>
      </p:sp>
      <p:sp>
        <p:nvSpPr>
          <p:cNvPr id="101" name="Diagram arrow 1"/>
          <p:cNvSpPr/>
          <p:nvPr/>
        </p:nvSpPr>
        <p:spPr>
          <a:xfrm>
            <a:off x="2167128" y="2761488"/>
            <a:ext cx="219456" cy="237744"/>
          </a:xfrm>
          <a:prstGeom prst="rightArrow">
            <a:avLst/>
          </a:prstGeom>
          <a:solidFill>
            <a:srgbClr val="2E6B57"/>
          </a:solidFill>
          <a:ln>
            <a:noFill/>
          </a:ln>
        </p:spPr>
      </p:sp>
      <p:sp>
        <p:nvSpPr>
          <p:cNvPr id="102" name="Diagram box 2"/>
          <p:cNvSpPr/>
          <p:nvPr/>
        </p:nvSpPr>
        <p:spPr>
          <a:xfrm>
            <a:off x="2441448" y="2286000"/>
            <a:ext cx="1563624" cy="1188720"/>
          </a:xfrm>
          <a:prstGeom prst="rect">
            <a:avLst/>
          </a:prstGeom>
          <a:solidFill>
            <a:srgbClr val="1F2A27"/>
          </a:solidFill>
          <a:ln>
            <a:noFill/>
          </a:ln>
        </p:spPr>
        <p:txBody>
          <a:bodyPr wrap="square" lIns="91440" rIns="91440" tIns="91440" bIns="91440" rtlCol="0" anchor="ctr">
            <a:noAutofit/>
          </a:bodyPr>
          <a:lstStyle/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pt-BR" sz="1400" b="1" i="0" dirty="0">
                <a:solidFill>
                  <a:srgbClr val="F5F3EF"/>
                </a:solidFill>
                <a:latin typeface="Lexend"/>
                <a:ea typeface="Lexend"/>
                <a:cs typeface="Lexend"/>
              </a:rPr>
              <a:t>Opengrep</a:t>
            </a:r>
          </a:p>
          <a:p>
            <a:pPr algn="ctr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050" b="0" i="0" dirty="0">
                <a:solidFill>
                  <a:srgbClr val="F5F3EF"/>
                </a:solidFill>
                <a:latin typeface="Poppins"/>
                <a:ea typeface="Poppins"/>
                <a:cs typeface="Poppins"/>
              </a:rPr>
              <a:t>regras Cylab · detecta</a:t>
            </a:r>
          </a:p>
        </p:txBody>
      </p:sp>
      <p:sp>
        <p:nvSpPr>
          <p:cNvPr id="103" name="Diagram arrow 2"/>
          <p:cNvSpPr/>
          <p:nvPr/>
        </p:nvSpPr>
        <p:spPr>
          <a:xfrm>
            <a:off x="4059936" y="2761488"/>
            <a:ext cx="219456" cy="237744"/>
          </a:xfrm>
          <a:prstGeom prst="rightArrow">
            <a:avLst/>
          </a:prstGeom>
          <a:solidFill>
            <a:srgbClr val="2E6B57"/>
          </a:solidFill>
          <a:ln>
            <a:noFill/>
          </a:ln>
        </p:spPr>
      </p:sp>
      <p:sp>
        <p:nvSpPr>
          <p:cNvPr id="104" name="Diagram box 3"/>
          <p:cNvSpPr/>
          <p:nvPr/>
        </p:nvSpPr>
        <p:spPr>
          <a:xfrm>
            <a:off x="4334256" y="2286000"/>
            <a:ext cx="1563624" cy="1188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square" lIns="91440" rIns="91440" tIns="91440" bIns="91440" rtlCol="0" anchor="ctr">
            <a:noAutofit/>
          </a:bodyPr>
          <a:lstStyle/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pt-BR" sz="1400" b="1" i="0" dirty="0">
                <a:solidFill>
                  <a:srgbClr val="000000"/>
                </a:solidFill>
                <a:latin typeface="Lexend"/>
                <a:ea typeface="Lexend"/>
                <a:cs typeface="Lexend"/>
              </a:rPr>
              <a:t>Achado</a:t>
            </a:r>
          </a:p>
          <a:p>
            <a:pPr algn="ctr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050" b="0" i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regra, CWE e trecho</a:t>
            </a:r>
          </a:p>
        </p:txBody>
      </p:sp>
      <p:sp>
        <p:nvSpPr>
          <p:cNvPr id="105" name="Diagram arrow 3"/>
          <p:cNvSpPr/>
          <p:nvPr/>
        </p:nvSpPr>
        <p:spPr>
          <a:xfrm>
            <a:off x="5952744" y="2761488"/>
            <a:ext cx="219456" cy="237744"/>
          </a:xfrm>
          <a:prstGeom prst="rightArrow">
            <a:avLst/>
          </a:prstGeom>
          <a:solidFill>
            <a:srgbClr val="2E6B57"/>
          </a:solidFill>
          <a:ln>
            <a:noFill/>
          </a:ln>
        </p:spPr>
      </p:sp>
      <p:sp>
        <p:nvSpPr>
          <p:cNvPr id="106" name="Diagram box 4"/>
          <p:cNvSpPr/>
          <p:nvPr/>
        </p:nvSpPr>
        <p:spPr>
          <a:xfrm>
            <a:off x="6227064" y="2286000"/>
            <a:ext cx="1563624" cy="1188720"/>
          </a:xfrm>
          <a:prstGeom prst="rect">
            <a:avLst/>
          </a:prstGeom>
          <a:solidFill>
            <a:srgbClr val="2E6B57"/>
          </a:solidFill>
          <a:ln>
            <a:noFill/>
          </a:ln>
        </p:spPr>
        <p:txBody>
          <a:bodyPr wrap="square" lIns="91440" rIns="91440" tIns="91440" bIns="91440" rtlCol="0" anchor="ctr">
            <a:noAutofit/>
          </a:bodyPr>
          <a:lstStyle/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pt-BR" sz="1400" b="1" i="0" dirty="0">
                <a:solidFill>
                  <a:srgbClr val="F5F3EF"/>
                </a:solidFill>
                <a:latin typeface="Lexend"/>
                <a:ea typeface="Lexend"/>
                <a:cs typeface="Lexend"/>
              </a:rPr>
              <a:t>LLM local</a:t>
            </a:r>
          </a:p>
          <a:p>
            <a:pPr algn="ctr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050" b="0" i="0" dirty="0">
                <a:solidFill>
                  <a:srgbClr val="F5F3EF"/>
                </a:solidFill>
                <a:latin typeface="Poppins"/>
                <a:ea typeface="Poppins"/>
                <a:cs typeface="Poppins"/>
              </a:rPr>
              <a:t>explica em pt-BR</a:t>
            </a:r>
          </a:p>
        </p:txBody>
      </p:sp>
      <p:sp>
        <p:nvSpPr>
          <p:cNvPr id="107" name="Diagram arrow 4"/>
          <p:cNvSpPr/>
          <p:nvPr/>
        </p:nvSpPr>
        <p:spPr>
          <a:xfrm>
            <a:off x="7845552" y="2761488"/>
            <a:ext cx="219456" cy="237744"/>
          </a:xfrm>
          <a:prstGeom prst="rightArrow">
            <a:avLst/>
          </a:prstGeom>
          <a:solidFill>
            <a:srgbClr val="2E6B57"/>
          </a:solidFill>
          <a:ln>
            <a:noFill/>
          </a:ln>
        </p:spPr>
      </p:sp>
      <p:sp>
        <p:nvSpPr>
          <p:cNvPr id="108" name="Diagram box 5"/>
          <p:cNvSpPr/>
          <p:nvPr/>
        </p:nvSpPr>
        <p:spPr>
          <a:xfrm>
            <a:off x="8119872" y="2286000"/>
            <a:ext cx="1563624" cy="1188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square" lIns="91440" rIns="91440" tIns="91440" bIns="91440" rtlCol="0" anchor="ctr">
            <a:noAutofit/>
          </a:bodyPr>
          <a:lstStyle/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pt-BR" sz="1400" b="1" i="0" dirty="0">
                <a:solidFill>
                  <a:srgbClr val="000000"/>
                </a:solidFill>
                <a:latin typeface="Lexend"/>
                <a:ea typeface="Lexend"/>
                <a:cs typeface="Lexend"/>
              </a:rPr>
              <a:t>Explicação + patch</a:t>
            </a:r>
          </a:p>
          <a:p>
            <a:pPr algn="ctr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050" b="0" i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pt-BR + trecho corrigido</a:t>
            </a:r>
          </a:p>
        </p:txBody>
      </p:sp>
      <p:sp>
        <p:nvSpPr>
          <p:cNvPr id="109" name="Diagram arrow 5"/>
          <p:cNvSpPr/>
          <p:nvPr/>
        </p:nvSpPr>
        <p:spPr>
          <a:xfrm>
            <a:off x="9738360" y="2761488"/>
            <a:ext cx="219456" cy="237744"/>
          </a:xfrm>
          <a:prstGeom prst="rightArrow">
            <a:avLst/>
          </a:prstGeom>
          <a:solidFill>
            <a:srgbClr val="2E6B57"/>
          </a:solidFill>
          <a:ln>
            <a:noFill/>
          </a:ln>
        </p:spPr>
      </p:sp>
      <p:sp>
        <p:nvSpPr>
          <p:cNvPr id="110" name="Diagram box 6"/>
          <p:cNvSpPr/>
          <p:nvPr/>
        </p:nvSpPr>
        <p:spPr>
          <a:xfrm>
            <a:off x="10012680" y="2286000"/>
            <a:ext cx="1563624" cy="1188720"/>
          </a:xfrm>
          <a:prstGeom prst="rect">
            <a:avLst/>
          </a:prstGeom>
          <a:solidFill>
            <a:srgbClr val="1F2A27"/>
          </a:solidFill>
          <a:ln>
            <a:noFill/>
          </a:ln>
        </p:spPr>
        <p:txBody>
          <a:bodyPr wrap="square" lIns="91440" rIns="91440" tIns="91440" bIns="91440" rtlCol="0" anchor="ctr">
            <a:noAutofit/>
          </a:bodyPr>
          <a:lstStyle/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pt-BR" sz="1400" b="1" i="0" dirty="0">
                <a:solidFill>
                  <a:srgbClr val="F5F3EF"/>
                </a:solidFill>
                <a:latin typeface="Lexend"/>
                <a:ea typeface="Lexend"/>
                <a:cs typeface="Lexend"/>
              </a:rPr>
              <a:t>Re-scan Opengrep</a:t>
            </a:r>
          </a:p>
          <a:p>
            <a:pPr algn="ctr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050" b="0" i="0" dirty="0">
                <a:solidFill>
                  <a:srgbClr val="F5F3EF"/>
                </a:solidFill>
                <a:latin typeface="Poppins"/>
                <a:ea typeface="Poppins"/>
                <a:cs typeface="Poppins"/>
              </a:rPr>
              <a:t>a regra deve dar 0 achados</a:t>
            </a:r>
          </a:p>
        </p:txBody>
      </p:sp>
      <p:sp>
        <p:nvSpPr>
          <p:cNvPr id="111" name="Bracket dataset"/>
          <p:cNvSpPr/>
          <p:nvPr/>
        </p:nvSpPr>
        <p:spPr>
          <a:xfrm>
            <a:off x="6227064" y="3639312"/>
            <a:ext cx="3456432" cy="128016"/>
          </a:xfrm>
          <a:prstGeom prst="rect">
            <a:avLst/>
          </a:prstGeom>
          <a:noFill/>
          <a:ln w="19050">
            <a:solidFill>
              <a:srgbClr val="2E6B57"/>
            </a:solidFill>
            <a:prstDash val="dash"/>
          </a:ln>
        </p:spPr>
      </p:sp>
      <p:sp>
        <p:nvSpPr>
          <p:cNvPr id="112" name="Bracket label"/>
          <p:cNvSpPr/>
          <p:nvPr/>
        </p:nvSpPr>
        <p:spPr>
          <a:xfrm>
            <a:off x="6135624" y="3840480"/>
            <a:ext cx="3639312" cy="7772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rtlCol="0" anchor="t">
            <a:noAutofit/>
          </a:bodyPr>
          <a:lstStyle/>
          <a:p>
            <a:pPr algn="ctr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2E6B57"/>
                </a:solidFill>
                <a:latin typeface="Poppins"/>
                <a:ea typeface="Poppins"/>
                <a:cs typeface="Poppins"/>
              </a:rPr>
              <a:t>Nesta entrega, explicação e patch vêm do dataset; nenhum LLM está rodando. </a:t>
            </a:r>
            <a:r>
              <a:rPr lang="pt-BR" sz="1100" b="0" i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O modelo local (via Ollama) é planejado para a próxima etapa.</a:t>
            </a:r>
          </a:p>
        </p:txBody>
      </p:sp>
      <p:sp>
        <p:nvSpPr>
          <p:cNvPr id="113" name="Step label 1"/>
          <p:cNvSpPr/>
          <p:nvPr/>
        </p:nvSpPr>
        <p:spPr>
          <a:xfrm>
            <a:off x="2441448" y="3639312"/>
            <a:ext cx="1563624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rtlCol="0" anchor="t">
            <a:noAutofit/>
          </a:bodyPr>
          <a:lstStyle/>
          <a:p>
            <a:pPr algn="ctr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787878"/>
                </a:solidFill>
                <a:latin typeface="Lexend"/>
                <a:ea typeface="Lexend"/>
                <a:cs typeface="Lexend"/>
              </a:rPr>
              <a:t>1 · detecta</a:t>
            </a:r>
          </a:p>
        </p:txBody>
      </p:sp>
      <p:sp>
        <p:nvSpPr>
          <p:cNvPr id="114" name="Step label 5"/>
          <p:cNvSpPr/>
          <p:nvPr/>
        </p:nvSpPr>
        <p:spPr>
          <a:xfrm>
            <a:off x="10012680" y="3639312"/>
            <a:ext cx="1563624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rtlCol="0" anchor="t">
            <a:noAutofit/>
          </a:bodyPr>
          <a:lstStyle/>
          <a:p>
            <a:pPr algn="ctr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787878"/>
                </a:solidFill>
                <a:latin typeface="Lexend"/>
                <a:ea typeface="Lexend"/>
                <a:cs typeface="Lexend"/>
              </a:rPr>
              <a:t>3 · confere</a:t>
            </a:r>
          </a:p>
        </p:txBody>
      </p:sp>
      <p:sp>
        <p:nvSpPr>
          <p:cNvPr id="115" name="Resp heading"/>
          <p:cNvSpPr/>
          <p:nvPr/>
        </p:nvSpPr>
        <p:spPr>
          <a:xfrm>
            <a:off x="548640" y="498348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rtlCol="0" anchor="t">
            <a:noAutofit/>
          </a:bodyPr>
          <a:lstStyle/>
          <a:p>
            <a:pPr algn="l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600" b="0" i="0" dirty="0">
                <a:solidFill>
                  <a:srgbClr val="000000"/>
                </a:solidFill>
                <a:latin typeface="Lexend"/>
                <a:ea typeface="Lexend"/>
                <a:cs typeface="Lexend"/>
              </a:rPr>
              <a:t>Divisão de responsabilidades</a:t>
            </a:r>
          </a:p>
        </p:txBody>
      </p:sp>
      <p:sp>
        <p:nvSpPr>
          <p:cNvPr id="116" name="Resp body"/>
          <p:cNvSpPr/>
          <p:nvPr/>
        </p:nvSpPr>
        <p:spPr>
          <a:xfrm>
            <a:off x="548640" y="5394960"/>
            <a:ext cx="539496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rtlCol="0" anchor="t">
            <a:noAutofit/>
          </a:bodyPr>
          <a:lstStyle/>
          <a:p>
            <a:pPr algn="l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200" b="0" i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O LLM entra onde é bom: linguagem e reescrita de código. A decisão sobre o que é vulnerável fica com a ferramenta auditável.</a:t>
            </a:r>
          </a:p>
        </p:txBody>
      </p:sp>
      <p:sp>
        <p:nvSpPr>
          <p:cNvPr id="117" name="Legend swatch 0"/>
          <p:cNvSpPr/>
          <p:nvPr/>
        </p:nvSpPr>
        <p:spPr>
          <a:xfrm>
            <a:off x="6492240" y="5093208"/>
            <a:ext cx="237744" cy="237744"/>
          </a:xfrm>
          <a:prstGeom prst="rect">
            <a:avLst/>
          </a:prstGeom>
          <a:solidFill>
            <a:srgbClr val="1F2A27"/>
          </a:solidFill>
          <a:ln>
            <a:noFill/>
          </a:ln>
        </p:spPr>
      </p:sp>
      <p:sp>
        <p:nvSpPr>
          <p:cNvPr id="118" name="Legend text 0"/>
          <p:cNvSpPr/>
          <p:nvPr/>
        </p:nvSpPr>
        <p:spPr>
          <a:xfrm>
            <a:off x="6858000" y="50292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rtlCol="0" anchor="ctr">
            <a:noAutofit/>
          </a:bodyPr>
          <a:lstStyle/>
          <a:p>
            <a:pPr algn="l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200" b="0" i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Opengrep: determinístico e auditável; decide o que é vulnerável</a:t>
            </a:r>
          </a:p>
        </p:txBody>
      </p:sp>
      <p:sp>
        <p:nvSpPr>
          <p:cNvPr id="119" name="Legend swatch 1"/>
          <p:cNvSpPr/>
          <p:nvPr/>
        </p:nvSpPr>
        <p:spPr>
          <a:xfrm>
            <a:off x="6492240" y="5504688"/>
            <a:ext cx="237744" cy="237744"/>
          </a:xfrm>
          <a:prstGeom prst="rect">
            <a:avLst/>
          </a:prstGeom>
          <a:solidFill>
            <a:srgbClr val="2E6B57"/>
          </a:solidFill>
          <a:ln>
            <a:noFill/>
          </a:ln>
        </p:spPr>
      </p:sp>
      <p:sp>
        <p:nvSpPr>
          <p:cNvPr id="120" name="Legend text 1"/>
          <p:cNvSpPr/>
          <p:nvPr/>
        </p:nvSpPr>
        <p:spPr>
          <a:xfrm>
            <a:off x="6858000" y="54406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rtlCol="0" anchor="ctr">
            <a:noAutofit/>
          </a:bodyPr>
          <a:lstStyle/>
          <a:p>
            <a:pPr algn="l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200" b="0" i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LLM local: explica e propõe o patch (próxima etapa)</a:t>
            </a:r>
          </a:p>
        </p:txBody>
      </p:sp>
      <p:sp>
        <p:nvSpPr>
          <p:cNvPr id="121" name="Legend swatch 2"/>
          <p:cNvSpPr/>
          <p:nvPr/>
        </p:nvSpPr>
        <p:spPr>
          <a:xfrm>
            <a:off x="6492240" y="5916168"/>
            <a:ext cx="237744" cy="237744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122" name="Legend text 2"/>
          <p:cNvSpPr/>
          <p:nvPr/>
        </p:nvSpPr>
        <p:spPr>
          <a:xfrm>
            <a:off x="6858000" y="58521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rtlCol="0" anchor="ctr">
            <a:noAutofit/>
          </a:bodyPr>
          <a:lstStyle/>
          <a:p>
            <a:pPr algn="l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200" b="0" i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Dados trocados entre as etapas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106" y="228600"/>
            <a:ext cx="2920594" cy="3090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Cylab · PUC Campinas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76995" y="6320333"/>
            <a:ext cx="2920594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02259" y="978408"/>
            <a:ext cx="499902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2E6B5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Ouro </a:t>
            </a:r>
            <a:r>
              <a:rPr lang="en-US" sz="4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v0.3-gold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842455" y="2286000"/>
            <a:ext cx="5349240" cy="2286000"/>
          </a:xfrm>
          <a:prstGeom prst="rect">
            <a:avLst/>
          </a:prstGeom>
          <a:solidFill>
            <a:srgbClr val="2E6B57"/>
          </a:solidFill>
          <a:ln/>
        </p:spPr>
      </p:sp>
      <p:sp>
        <p:nvSpPr>
          <p:cNvPr id="7" name="Text 5"/>
          <p:cNvSpPr/>
          <p:nvPr/>
        </p:nvSpPr>
        <p:spPr>
          <a:xfrm>
            <a:off x="7178040" y="32004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3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401 pares de treino e 75 de holdout. A deduplicação foi feita antes da partição.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78040" y="2743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5F3E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Partição 401 / 75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42455" y="0"/>
            <a:ext cx="3633826" cy="2286000"/>
          </a:xfrm>
          <a:prstGeom prst="rect">
            <a:avLst/>
          </a:prstGeom>
          <a:solidFill>
            <a:srgbClr val="1F2A27"/>
          </a:solidFill>
          <a:ln/>
        </p:spPr>
      </p:sp>
      <p:sp>
        <p:nvSpPr>
          <p:cNvPr id="10" name="Text 8"/>
          <p:cNvSpPr/>
          <p:nvPr/>
        </p:nvSpPr>
        <p:spPr>
          <a:xfrm>
            <a:off x="7178040" y="10515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3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Todas as linguagens do escopo estão presentes; pares escritos do zero, licença CC-BY-4.0.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78040" y="548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5F3E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10 linguagens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42455" y="4572000"/>
            <a:ext cx="3633826" cy="22860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53492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200" b="1" i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Escritos do zero, por frente:</a:t>
            </a:r>
          </a:p>
          <a:p>
            <a:pPr algn="l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200" b="0" i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Python/JS/TS 151 · Java/PHP/C#/SQL 92</a:t>
            </a:r>
          </a:p>
          <a:p>
            <a:pPr algn="l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200" b="0" i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C/C++/Bash 182 · complemento +51</a:t>
            </a:r>
          </a:p>
        </p:txBody>
      </p:sp>
      <p:sp>
        <p:nvSpPr>
          <p:cNvPr id="14" name="Text 12"/>
          <p:cNvSpPr/>
          <p:nvPr/>
        </p:nvSpPr>
        <p:spPr>
          <a:xfrm>
            <a:off x="7178040" y="49377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Procedência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2259" y="23317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476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2788920" y="26974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pares · gate 476/476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2259" y="361188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6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linguagem: </a:t>
            </a:r>
            <a:r>
              <a:rPr lang="en-US" sz="13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C++ 74 · Python 68 · JavaScript 63 · C 55 · Bash 55 · Java 34 · SQL 34 · TypeScript 33 · PHP 33 · C# 27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1828800"/>
            <a:ext cx="1273759" cy="102413"/>
          </a:xfrm>
          <a:prstGeom prst="roundRect">
            <a:avLst>
              <a:gd name="adj" fmla="val 50000"/>
            </a:avLst>
          </a:prstGeom>
          <a:solidFill>
            <a:srgbClr val="2E6B57"/>
          </a:solidFill>
          <a:ln/>
        </p:spPr>
      </p:sp>
      <p:sp>
        <p:nvSpPr>
          <p:cNvPr id="301" name="Commercial note"/>
          <p:cNvSpPr/>
          <p:nvPr/>
        </p:nvSpPr>
        <p:spPr>
          <a:xfrm>
            <a:off x="702259" y="4892040"/>
            <a:ext cx="56692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rtlCol="0" anchor="t">
            <a:noAutofit/>
          </a:bodyPr>
          <a:lstStyle/>
          <a:p>
            <a:pPr algn="l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200" b="1" i="0" dirty="0">
                <a:solidFill>
                  <a:srgbClr val="2E6B57"/>
                </a:solidFill>
                <a:latin typeface="Poppins"/>
                <a:ea typeface="Poppins"/>
                <a:cs typeface="Poppins"/>
              </a:rPr>
              <a:t>Sobre o nome do arquivo: </a:t>
            </a:r>
            <a:r>
              <a:rPr lang="pt-BR" sz="1200" b="0" i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data/cylab-commercial-v0.3-gold.jsonl. “commercial” vem da linha de escala (meta de ~2 mil pares na v0.2) e não restringe o uso: a licença é CC-BY-4.0, aberta.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106" y="228600"/>
            <a:ext cx="2920594" cy="3090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Cylab · PUC Campinas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76995" y="6320333"/>
            <a:ext cx="2920594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2918764"/>
            <a:ext cx="2194560" cy="27432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3611880" y="5129851"/>
            <a:ext cx="2194560" cy="53211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" name="Shape 5"/>
          <p:cNvSpPr/>
          <p:nvPr/>
        </p:nvSpPr>
        <p:spPr>
          <a:xfrm>
            <a:off x="9189720" y="5065998"/>
            <a:ext cx="2194560" cy="595966"/>
          </a:xfrm>
          <a:prstGeom prst="rect">
            <a:avLst/>
          </a:prstGeom>
          <a:solidFill>
            <a:srgbClr val="2E6B5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5598111"/>
            <a:ext cx="2194560" cy="638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1584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2.191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4626931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425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89720" y="456307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476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5095191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+51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11880" y="2057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400" b="0" i="0" dirty="0">
                <a:solidFill>
                  <a:srgbClr val="2E6B57"/>
                </a:solidFill>
                <a:latin typeface="Lexend"/>
                <a:ea typeface="Lexend"/>
                <a:cs typeface="Lexend"/>
              </a:rPr>
              <a:t>Near-clones: </a:t>
            </a:r>
            <a:r>
              <a:rPr lang="pt-BR" sz="1400" b="0" i="0" dirty="0">
                <a:solidFill>
                  <a:srgbClr val="000000"/>
                </a:solidFill>
                <a:latin typeface="Lexend"/>
                <a:ea typeface="Lexend"/>
                <a:cs typeface="Lexend"/>
              </a:rPr>
              <a:t>variações do mesmo template. Na fatia C/C++/Bash, 602 pares viraram 182; os cortes de 0,80 a 0,99 deram os mesmos 182 (clones exatos).</a:t>
            </a:r>
          </a:p>
        </p:txBody>
      </p:sp>
      <p:sp>
        <p:nvSpPr>
          <p:cNvPr id="17" name="Shape 15"/>
          <p:cNvSpPr/>
          <p:nvPr/>
        </p:nvSpPr>
        <p:spPr>
          <a:xfrm>
            <a:off x="254203" y="5661965"/>
            <a:ext cx="1168420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760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v0.2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11880" y="5760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núcleos deduplicados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89720" y="5760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v0.3-gold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760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complemento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2259" y="978408"/>
            <a:ext cx="9356141" cy="769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 2.191 pares </a:t>
            </a:r>
            <a:r>
              <a:rPr lang="en-US" sz="4400" dirty="0">
                <a:solidFill>
                  <a:srgbClr val="2E6B5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ao ouro</a:t>
            </a:r>
            <a:endParaRPr lang="en-US" sz="4400" dirty="0"/>
          </a:p>
        </p:txBody>
      </p:sp>
      <p:sp>
        <p:nvSpPr>
          <p:cNvPr id="26" name="Shape 24"/>
          <p:cNvSpPr/>
          <p:nvPr/>
        </p:nvSpPr>
        <p:spPr>
          <a:xfrm>
            <a:off x="6309360" y="1783080"/>
            <a:ext cx="1273759" cy="102413"/>
          </a:xfrm>
          <a:prstGeom prst="roundRect">
            <a:avLst>
              <a:gd name="adj" fmla="val 50000"/>
            </a:avLst>
          </a:prstGeom>
          <a:solidFill>
            <a:srgbClr val="2E6B57"/>
          </a:solidFill>
          <a:ln/>
        </p:spPr>
      </p:sp>
      <p:sp>
        <p:nvSpPr>
          <p:cNvPr id="300" name="Dedup method"/>
          <p:cNvSpPr/>
          <p:nvPr/>
        </p:nvSpPr>
        <p:spPr>
          <a:xfrm>
            <a:off x="3611880" y="3017520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rtlCol="0" anchor="t">
            <a:noAutofit/>
          </a:bodyPr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pt-BR" sz="1200" b="1" i="0" dirty="0">
                <a:solidFill>
                  <a:srgbClr val="2E6B57"/>
                </a:solidFill>
                <a:latin typeface="Poppins"/>
                <a:ea typeface="Poppins"/>
                <a:cs typeface="Poppins"/>
              </a:rPr>
              <a:t>Método: </a:t>
            </a:r>
            <a:r>
              <a:rPr lang="pt-BR" sz="1200" b="0" i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similaridade de Jaccard sobre shingles de tokens (BRODER, 1997), por estrato linguagem + CWE.</a:t>
            </a:r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pt-BR" sz="1200" b="1" i="0" dirty="0">
                <a:solidFill>
                  <a:srgbClr val="2E6B57"/>
                </a:solidFill>
                <a:latin typeface="Poppins"/>
                <a:ea typeface="Poppins"/>
                <a:cs typeface="Poppins"/>
              </a:rPr>
              <a:t>Limiares por frente: </a:t>
            </a:r>
            <a:r>
              <a:rPr lang="pt-BR" sz="1200" b="0" i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global e C/C++/Bash, Jaccard ≥ 0,85 · Python/JS/TS, SequenceMatcher ≥ 0,85 · Java/PHP/C#/SQL, Jaccard 0,82.</a:t>
            </a:r>
          </a:p>
          <a:p>
            <a:pPr algn="l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200" b="1" i="0" dirty="0">
                <a:solidFill>
                  <a:srgbClr val="2E6B57"/>
                </a:solidFill>
                <a:latin typeface="Poppins"/>
                <a:ea typeface="Poppins"/>
                <a:cs typeface="Poppins"/>
              </a:rPr>
              <a:t>Complemento +51: </a:t>
            </a:r>
            <a:r>
              <a:rPr lang="pt-BR" sz="1200" b="0" i="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nenhum é quase-duplicata dos pares já mantidos (Jaccard de 5-gramas ≥ 0,9; 181 descartados). Fonte: DOC_ACADEMICO_BANCA.md, § funil.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106" y="228600"/>
            <a:ext cx="2920594" cy="3090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Cylab · PUC Campinas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76995" y="6320333"/>
            <a:ext cx="2920594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4924" y="1239926"/>
            <a:ext cx="4892954" cy="1446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2E6B5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Limitações</a:t>
            </a:r>
            <a:endParaRPr lang="en-US" sz="4400" dirty="0"/>
          </a:p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técnicas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746443" y="3713378"/>
            <a:ext cx="3815791" cy="1597457"/>
          </a:xfrm>
          <a:prstGeom prst="roundRect">
            <a:avLst>
              <a:gd name="adj" fmla="val 6362"/>
            </a:avLst>
          </a:prstGeom>
          <a:solidFill>
            <a:srgbClr val="1F2A27"/>
          </a:solidFill>
          <a:ln/>
        </p:spPr>
      </p:sp>
      <p:sp>
        <p:nvSpPr>
          <p:cNvPr id="7" name="Shape 5"/>
          <p:cNvSpPr/>
          <p:nvPr/>
        </p:nvSpPr>
        <p:spPr>
          <a:xfrm>
            <a:off x="6855257" y="4275734"/>
            <a:ext cx="3613709" cy="0"/>
          </a:xfrm>
          <a:prstGeom prst="line">
            <a:avLst/>
          </a:prstGeom>
          <a:noFill/>
          <a:ln w="6350">
            <a:solidFill>
              <a:srgbClr val="F5F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39712" y="3903574"/>
            <a:ext cx="3611880" cy="3081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5F3E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Gate não é correção funcional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39712" y="4451299"/>
            <a:ext cx="3472891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3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Zero achados no after mostram que a regra deixou de disparar, não que o patch preserve o comportamento.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4924" y="1188720"/>
            <a:ext cx="1273759" cy="102413"/>
          </a:xfrm>
          <a:prstGeom prst="roundRect">
            <a:avLst>
              <a:gd name="adj" fmla="val 50000"/>
            </a:avLst>
          </a:prstGeom>
          <a:solidFill>
            <a:srgbClr val="2E6B57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" y="3112618"/>
            <a:ext cx="420624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Análise de fluxo (taint) por linguagem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" y="379476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E6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C/C++: </a:t>
            </a: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taint do Opengrep 1.32 não produziu achados nos testes; as regras -gold são estruturais.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E6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Java/PHP/C#: </a:t>
            </a: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 regras em taint ativo; criptografia, segredos, cabeçalhos, XXE e libxml seguem em regex.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E6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e Bash: </a:t>
            </a: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regex restrita (o Opengrep não oferece taint para SQL; o suporte estrutural a Bash é limitado).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46443" y="123444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E6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Pares sintéticos e curtos: </a:t>
            </a:r>
            <a:r>
              <a:rPr lang="en-US" sz="13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mediana de 6 linhas no before; não representam código de produção com múltiplos arquivos. A deduplicação reduz a repetição, mas não muda essa natureza.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E6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Metadados: </a:t>
            </a:r>
            <a:r>
              <a:rPr lang="en-US" sz="13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campo source normalizado no formato do schema (URL da CWE) nos 476 pares; validação do dataset OK.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3562" y="3670402"/>
            <a:ext cx="3822192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106" y="228600"/>
            <a:ext cx="2920594" cy="3090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Cylab · PUC Campinas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76995" y="6320333"/>
            <a:ext cx="2920594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02259" y="978408"/>
            <a:ext cx="10394899" cy="769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Próximos </a:t>
            </a:r>
            <a:r>
              <a:rPr lang="en-US" sz="4400" dirty="0">
                <a:solidFill>
                  <a:srgbClr val="2E6B5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passos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02259" y="2180844"/>
            <a:ext cx="2962656" cy="2085746"/>
          </a:xfrm>
          <a:prstGeom prst="rect">
            <a:avLst/>
          </a:prstGeom>
          <a:solidFill>
            <a:srgbClr val="2E6B57"/>
          </a:solidFill>
          <a:ln/>
        </p:spPr>
      </p:sp>
      <p:sp>
        <p:nvSpPr>
          <p:cNvPr id="7" name="Shape 5"/>
          <p:cNvSpPr/>
          <p:nvPr/>
        </p:nvSpPr>
        <p:spPr>
          <a:xfrm>
            <a:off x="4422953" y="3224174"/>
            <a:ext cx="2962656" cy="2085746"/>
          </a:xfrm>
          <a:prstGeom prst="rect">
            <a:avLst/>
          </a:prstGeom>
          <a:solidFill>
            <a:srgbClr val="1F2A27"/>
          </a:solidFill>
          <a:ln/>
        </p:spPr>
      </p:sp>
      <p:sp>
        <p:nvSpPr>
          <p:cNvPr id="8" name="Shape 6"/>
          <p:cNvSpPr/>
          <p:nvPr/>
        </p:nvSpPr>
        <p:spPr>
          <a:xfrm>
            <a:off x="8143646" y="4267505"/>
            <a:ext cx="2962656" cy="208574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" name="Text 7"/>
          <p:cNvSpPr/>
          <p:nvPr/>
        </p:nvSpPr>
        <p:spPr>
          <a:xfrm>
            <a:off x="910742" y="253837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5F3E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 · Ajuste fino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0742" y="2995574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3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Qwen2.5-Coder-14B com LoRA/QLoRA; depois, um modelo maior da família Qwen.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1436" y="358170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5F3E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2 · Avaliação no holdout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31436" y="4038904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3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75 pares. Critério: o patch gerado passa no gate; revisão humana das explicações.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52130" y="4625035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 · Empacotamento local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52130" y="5082235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Modelo servido via Ollama, com CLI e extensão para o VS Code.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22952" y="2011680"/>
            <a:ext cx="356616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Pergunta da próxima entrega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22952" y="235915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modelo local, treinado nesses pares, gera patches que passam no gate?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2259" y="4434840"/>
            <a:ext cx="282458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Também: incluir funções maiores e casos com múltiplos arquivos; reavaliar o taint em C/C++ quando houver suporte.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43646" y="3154680"/>
            <a:ext cx="282458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Requisitos de hardware: medidos após o ajuste fino. Nenhuma estimativa nesta entrega.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069080" y="1810512"/>
            <a:ext cx="1273759" cy="102413"/>
          </a:xfrm>
          <a:prstGeom prst="roundRect">
            <a:avLst>
              <a:gd name="adj" fmla="val 50000"/>
            </a:avLst>
          </a:prstGeom>
          <a:solidFill>
            <a:srgbClr val="2E6B5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exe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Cylab local — Seminário de projeto PUC Campinas</dc:title>
  <dc:subject>PptxGenJS Presentation</dc:subject>
  <dc:creator>Arthur Alcausa</dc:creator>
  <cp:lastModifiedBy>Arthur Alcausa</cp:lastModifiedBy>
  <cp:revision>1</cp:revision>
  <dcterms:created xsi:type="dcterms:W3CDTF">2026-10-27T14:11:37Z</dcterms:created>
  <dcterms:modified xsi:type="dcterms:W3CDTF">2026-10-27T14:11:37Z</dcterms:modified>
</cp:coreProperties>
</file>